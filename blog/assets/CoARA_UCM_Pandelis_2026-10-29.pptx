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1131"/>
    <a:srgbClr val="00000B"/>
    <a:srgbClr val="7CAFDE"/>
    <a:srgbClr val="4697DA"/>
    <a:srgbClr val="D6E6F1"/>
    <a:srgbClr val="E8E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9" autoAdjust="0"/>
    <p:restoredTop sz="96266" autoAdjust="0"/>
  </p:normalViewPr>
  <p:slideViewPr>
    <p:cSldViewPr snapToGrid="0">
      <p:cViewPr varScale="1">
        <p:scale>
          <a:sx n="119" d="100"/>
          <a:sy n="119" d="100"/>
        </p:scale>
        <p:origin x="216" y="2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25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83556F3-AF03-1B56-AD9F-0ABB5438C1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DA704B-3CFF-331C-7CE1-98B2C65A92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AED8BB-FA20-F7B3-393B-01F6407DC9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8A74A-B22C-4FF7-8BBF-7CF6A4963E3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514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4D3F7-4E6E-48ED-BEA5-78D2D46C2DD7}" type="datetimeFigureOut">
              <a:rPr lang="es-ES" smtClean="0"/>
              <a:t>28/10/26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FC1E9-763F-4675-9C2E-5934BD47D5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754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Punto de </a:t>
            </a:r>
            <a:r>
              <a:rPr dirty="0" err="1"/>
              <a:t>partida</a:t>
            </a:r>
            <a:r>
              <a:rPr dirty="0"/>
              <a:t> idea de Garfield, </a:t>
            </a:r>
            <a:r>
              <a:rPr dirty="0" err="1"/>
              <a:t>químico</a:t>
            </a:r>
            <a:r>
              <a:rPr dirty="0"/>
              <a:t>, </a:t>
            </a:r>
            <a:r>
              <a:rPr dirty="0" err="1"/>
              <a:t>citas</a:t>
            </a:r>
            <a:r>
              <a:rPr dirty="0"/>
              <a:t> </a:t>
            </a:r>
            <a:r>
              <a:rPr dirty="0" err="1"/>
              <a:t>indicador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, lo </a:t>
            </a:r>
            <a:r>
              <a:rPr dirty="0" err="1"/>
              <a:t>cual</a:t>
            </a:r>
            <a:r>
              <a:rPr dirty="0"/>
              <a:t> </a:t>
            </a:r>
            <a:r>
              <a:rPr dirty="0" err="1"/>
              <a:t>dio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 al factor de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ideado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indicador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revistas</a:t>
            </a:r>
            <a:r>
              <a:rPr dirty="0"/>
              <a:t> para </a:t>
            </a:r>
            <a:r>
              <a:rPr dirty="0" err="1"/>
              <a:t>facilitar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selección</a:t>
            </a:r>
            <a:r>
              <a:rPr dirty="0"/>
              <a:t> de las </a:t>
            </a:r>
            <a:r>
              <a:rPr dirty="0" err="1"/>
              <a:t>bibliotecas</a:t>
            </a:r>
            <a:r>
              <a:rPr dirty="0"/>
              <a:t>. De </a:t>
            </a:r>
            <a:r>
              <a:rPr dirty="0" err="1"/>
              <a:t>allí</a:t>
            </a:r>
            <a:r>
              <a:rPr dirty="0"/>
              <a:t> </a:t>
            </a:r>
            <a:r>
              <a:rPr dirty="0" err="1"/>
              <a:t>nace</a:t>
            </a:r>
            <a:r>
              <a:rPr dirty="0"/>
              <a:t> SCI, JCR </a:t>
            </a:r>
            <a:r>
              <a:rPr dirty="0" err="1"/>
              <a:t>que</a:t>
            </a:r>
            <a:r>
              <a:rPr dirty="0"/>
              <a:t> ha </a:t>
            </a:r>
            <a:r>
              <a:rPr dirty="0" err="1"/>
              <a:t>sido</a:t>
            </a:r>
            <a:r>
              <a:rPr dirty="0"/>
              <a:t> un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lucrativo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que...(Onex y Baring Private Equity Asia), y </a:t>
            </a:r>
            <a:r>
              <a:rPr dirty="0" err="1"/>
              <a:t>nace</a:t>
            </a:r>
            <a:r>
              <a:rPr dirty="0"/>
              <a:t> Clarivate.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ha </a:t>
            </a:r>
            <a:r>
              <a:rPr dirty="0" err="1"/>
              <a:t>sido</a:t>
            </a:r>
            <a:r>
              <a:rPr dirty="0"/>
              <a:t> </a:t>
            </a:r>
            <a:r>
              <a:rPr dirty="0" err="1"/>
              <a:t>desarrollado</a:t>
            </a:r>
            <a:r>
              <a:rPr dirty="0"/>
              <a:t> para </a:t>
            </a:r>
            <a:r>
              <a:rPr dirty="0" err="1"/>
              <a:t>valorar</a:t>
            </a:r>
            <a:r>
              <a:rPr dirty="0"/>
              <a:t> </a:t>
            </a:r>
            <a:r>
              <a:rPr dirty="0" err="1"/>
              <a:t>revistas</a:t>
            </a:r>
            <a:r>
              <a:rPr dirty="0"/>
              <a:t> y ha </a:t>
            </a:r>
            <a:r>
              <a:rPr dirty="0" err="1"/>
              <a:t>habido</a:t>
            </a:r>
            <a:r>
              <a:rPr dirty="0"/>
              <a:t> </a:t>
            </a:r>
            <a:r>
              <a:rPr dirty="0" err="1"/>
              <a:t>advertencias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el principio tanto de </a:t>
            </a:r>
            <a:r>
              <a:rPr dirty="0" err="1"/>
              <a:t>su</a:t>
            </a:r>
            <a:r>
              <a:rPr dirty="0"/>
              <a:t> inventor </a:t>
            </a:r>
            <a:r>
              <a:rPr dirty="0" err="1"/>
              <a:t>como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editores</a:t>
            </a:r>
            <a:r>
              <a:rPr dirty="0"/>
              <a:t> </a:t>
            </a:r>
            <a:r>
              <a:rPr dirty="0" err="1"/>
              <a:t>científicos</a:t>
            </a:r>
            <a:r>
              <a:rPr dirty="0"/>
              <a:t>. El factor de </a:t>
            </a:r>
            <a:r>
              <a:rPr dirty="0" err="1"/>
              <a:t>impacto</a:t>
            </a:r>
            <a:r>
              <a:rPr dirty="0"/>
              <a:t> no es un </a:t>
            </a:r>
            <a:r>
              <a:rPr dirty="0" err="1"/>
              <a:t>indicador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artículos</a:t>
            </a:r>
            <a:r>
              <a:rPr dirty="0"/>
              <a:t> </a:t>
            </a:r>
            <a:r>
              <a:rPr dirty="0" err="1"/>
              <a:t>individuales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de </a:t>
            </a:r>
            <a:r>
              <a:rPr dirty="0" err="1"/>
              <a:t>investigadores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Por </a:t>
            </a:r>
            <a:r>
              <a:rPr dirty="0" err="1"/>
              <a:t>mucho</a:t>
            </a:r>
            <a:r>
              <a:rPr dirty="0"/>
              <a:t> factor de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tenga</a:t>
            </a:r>
            <a:r>
              <a:rPr dirty="0"/>
              <a:t> </a:t>
            </a:r>
            <a:r>
              <a:rPr dirty="0" err="1"/>
              <a:t>vuestra</a:t>
            </a:r>
            <a:r>
              <a:rPr dirty="0"/>
              <a:t> </a:t>
            </a:r>
            <a:r>
              <a:rPr dirty="0" err="1"/>
              <a:t>revista</a:t>
            </a:r>
            <a:r>
              <a:rPr dirty="0"/>
              <a:t>, lo </a:t>
            </a:r>
            <a:r>
              <a:rPr dirty="0" err="1"/>
              <a:t>más</a:t>
            </a:r>
            <a:r>
              <a:rPr dirty="0"/>
              <a:t> probable es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vuestro</a:t>
            </a:r>
            <a:r>
              <a:rPr dirty="0"/>
              <a:t> </a:t>
            </a:r>
            <a:r>
              <a:rPr dirty="0" err="1"/>
              <a:t>artículo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reciba</a:t>
            </a:r>
            <a:r>
              <a:rPr dirty="0"/>
              <a:t> </a:t>
            </a:r>
            <a:r>
              <a:rPr dirty="0" err="1"/>
              <a:t>citas</a:t>
            </a:r>
            <a:r>
              <a:rPr dirty="0"/>
              <a:t>: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revistas</a:t>
            </a:r>
            <a:r>
              <a:rPr dirty="0"/>
              <a:t>, lo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frecuente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cita</a:t>
            </a:r>
            <a:r>
              <a:rPr dirty="0"/>
              <a:t> al </a:t>
            </a:r>
            <a:r>
              <a:rPr dirty="0" err="1"/>
              <a:t>año</a:t>
            </a:r>
            <a:r>
              <a:rPr dirty="0"/>
              <a:t> o </a:t>
            </a:r>
            <a:r>
              <a:rPr dirty="0" err="1"/>
              <a:t>ninguna</a:t>
            </a:r>
            <a:r>
              <a:rPr dirty="0"/>
              <a:t>. El factor de </a:t>
            </a:r>
            <a:r>
              <a:rPr dirty="0" err="1"/>
              <a:t>impacto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media, y </a:t>
            </a:r>
            <a:r>
              <a:rPr dirty="0" err="1"/>
              <a:t>unos</a:t>
            </a:r>
            <a:r>
              <a:rPr dirty="0"/>
              <a:t> </a:t>
            </a:r>
            <a:r>
              <a:rPr dirty="0" err="1"/>
              <a:t>pocos</a:t>
            </a:r>
            <a:r>
              <a:rPr dirty="0"/>
              <a:t> </a:t>
            </a:r>
            <a:r>
              <a:rPr dirty="0" err="1"/>
              <a:t>artículos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citados</a:t>
            </a:r>
            <a:r>
              <a:rPr dirty="0"/>
              <a:t> la </a:t>
            </a:r>
            <a:r>
              <a:rPr dirty="0" err="1"/>
              <a:t>suben</a:t>
            </a:r>
            <a:r>
              <a:rPr dirty="0"/>
              <a:t>; dos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quedan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debajo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uso</a:t>
            </a:r>
            <a:r>
              <a:rPr dirty="0"/>
              <a:t> del FI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plantear</a:t>
            </a:r>
            <a:r>
              <a:rPr dirty="0"/>
              <a:t> </a:t>
            </a:r>
            <a:r>
              <a:rPr dirty="0" err="1"/>
              <a:t>problemáticas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la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diapositiva</a:t>
            </a:r>
            <a:r>
              <a:rPr dirty="0"/>
              <a:t>: el </a:t>
            </a:r>
            <a:r>
              <a:rPr dirty="0" err="1"/>
              <a:t>artículo</a:t>
            </a:r>
            <a:r>
              <a:rPr dirty="0"/>
              <a:t> B es </a:t>
            </a:r>
            <a:r>
              <a:rPr dirty="0" err="1"/>
              <a:t>mucho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citado</a:t>
            </a:r>
            <a:r>
              <a:rPr dirty="0"/>
              <a:t> y, </a:t>
            </a:r>
            <a:r>
              <a:rPr dirty="0" err="1"/>
              <a:t>por</a:t>
            </a:r>
            <a:r>
              <a:rPr dirty="0"/>
              <a:t> tanto,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influyente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A, </a:t>
            </a:r>
            <a:r>
              <a:rPr dirty="0" err="1"/>
              <a:t>pero</a:t>
            </a:r>
            <a:r>
              <a:rPr dirty="0"/>
              <a:t> la </a:t>
            </a: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factor de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elige</a:t>
            </a:r>
            <a:r>
              <a:rPr dirty="0"/>
              <a:t> el A. La </a:t>
            </a:r>
            <a:r>
              <a:rPr dirty="0" err="1"/>
              <a:t>cita</a:t>
            </a:r>
            <a:r>
              <a:rPr dirty="0"/>
              <a:t> de Garfield </a:t>
            </a:r>
            <a:r>
              <a:rPr dirty="0" err="1"/>
              <a:t>recuerda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lo ideal </a:t>
            </a:r>
            <a:r>
              <a:rPr dirty="0" err="1"/>
              <a:t>sería</a:t>
            </a:r>
            <a:r>
              <a:rPr dirty="0"/>
              <a:t> leer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artículo</a:t>
            </a:r>
            <a:r>
              <a:rPr dirty="0"/>
              <a:t> y </a:t>
            </a:r>
            <a:r>
              <a:rPr dirty="0" err="1"/>
              <a:t>hacer</a:t>
            </a:r>
            <a:r>
              <a:rPr dirty="0"/>
              <a:t> un </a:t>
            </a:r>
            <a:r>
              <a:rPr dirty="0" err="1"/>
              <a:t>juicio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. Algo al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volveremos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adelante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pesar</a:t>
            </a:r>
            <a:r>
              <a:rPr dirty="0"/>
              <a:t> de las </a:t>
            </a:r>
            <a:r>
              <a:rPr dirty="0" err="1"/>
              <a:t>advertencias</a:t>
            </a:r>
            <a:r>
              <a:rPr dirty="0"/>
              <a:t>, el factor de </a:t>
            </a:r>
            <a:r>
              <a:rPr dirty="0" err="1"/>
              <a:t>impacto</a:t>
            </a:r>
            <a:r>
              <a:rPr dirty="0"/>
              <a:t> ha </a:t>
            </a:r>
            <a:r>
              <a:rPr dirty="0" err="1"/>
              <a:t>sido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décadas</a:t>
            </a:r>
            <a:r>
              <a:rPr dirty="0"/>
              <a:t> el </a:t>
            </a:r>
            <a:r>
              <a:rPr dirty="0" err="1"/>
              <a:t>indicador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excelencia</a:t>
            </a:r>
            <a:r>
              <a:rPr dirty="0"/>
              <a:t>, y con </a:t>
            </a:r>
            <a:r>
              <a:rPr dirty="0" err="1"/>
              <a:t>él</a:t>
            </a:r>
            <a:r>
              <a:rPr dirty="0"/>
              <a:t> la </a:t>
            </a:r>
            <a:r>
              <a:rPr dirty="0" err="1"/>
              <a:t>revista</a:t>
            </a:r>
            <a:r>
              <a:rPr dirty="0"/>
              <a:t> se </a:t>
            </a:r>
            <a:r>
              <a:rPr dirty="0" err="1"/>
              <a:t>convirtió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medida</a:t>
            </a:r>
            <a:r>
              <a:rPr dirty="0"/>
              <a:t> de </a:t>
            </a:r>
            <a:r>
              <a:rPr dirty="0" err="1"/>
              <a:t>todo</a:t>
            </a:r>
            <a:r>
              <a:rPr dirty="0"/>
              <a:t>. A </a:t>
            </a:r>
            <a:r>
              <a:rPr dirty="0" err="1"/>
              <a:t>veces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siquiera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el </a:t>
            </a:r>
            <a:r>
              <a:rPr dirty="0" err="1"/>
              <a:t>número</a:t>
            </a:r>
            <a:r>
              <a:rPr dirty="0"/>
              <a:t>: basta el </a:t>
            </a:r>
            <a:r>
              <a:rPr dirty="0" err="1"/>
              <a:t>nombre</a:t>
            </a:r>
            <a:r>
              <a:rPr dirty="0"/>
              <a:t>. El ranking de </a:t>
            </a:r>
            <a:r>
              <a:rPr dirty="0" err="1"/>
              <a:t>Shanghái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, </a:t>
            </a:r>
            <a:r>
              <a:rPr dirty="0" err="1"/>
              <a:t>puntúa</a:t>
            </a:r>
            <a:r>
              <a:rPr dirty="0"/>
              <a:t> a las </a:t>
            </a:r>
            <a:r>
              <a:rPr dirty="0" err="1"/>
              <a:t>universidades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artículos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publican </a:t>
            </a:r>
            <a:r>
              <a:rPr dirty="0" err="1"/>
              <a:t>en</a:t>
            </a:r>
            <a:r>
              <a:rPr dirty="0"/>
              <a:t> Nature y Science. Pero la </a:t>
            </a:r>
            <a:r>
              <a:rPr dirty="0" err="1"/>
              <a:t>evaluación</a:t>
            </a:r>
            <a:r>
              <a:rPr dirty="0"/>
              <a:t> no es la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función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las </a:t>
            </a:r>
            <a:r>
              <a:rPr dirty="0" err="1"/>
              <a:t>revistas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controlan</a:t>
            </a:r>
            <a:r>
              <a:rPr dirty="0"/>
              <a:t> </a:t>
            </a:r>
            <a:r>
              <a:rPr dirty="0" err="1"/>
              <a:t>además</a:t>
            </a:r>
            <a:r>
              <a:rPr dirty="0"/>
              <a:t> dos </a:t>
            </a:r>
            <a:r>
              <a:rPr dirty="0" err="1"/>
              <a:t>otras</a:t>
            </a:r>
            <a:r>
              <a:rPr dirty="0"/>
              <a:t>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fundamentales</a:t>
            </a:r>
            <a:r>
              <a:rPr dirty="0"/>
              <a:t>: </a:t>
            </a:r>
            <a:r>
              <a:rPr dirty="0" err="1"/>
              <a:t>validar</a:t>
            </a:r>
            <a:r>
              <a:rPr dirty="0"/>
              <a:t> y </a:t>
            </a:r>
            <a:r>
              <a:rPr dirty="0" err="1"/>
              <a:t>difundir</a:t>
            </a:r>
            <a:r>
              <a:rPr dirty="0"/>
              <a:t>. Eso genera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dependencia</a:t>
            </a:r>
            <a:r>
              <a:rPr dirty="0"/>
              <a:t> </a:t>
            </a:r>
            <a:r>
              <a:rPr dirty="0" err="1"/>
              <a:t>casi</a:t>
            </a:r>
            <a:r>
              <a:rPr dirty="0"/>
              <a:t> </a:t>
            </a:r>
            <a:r>
              <a:rPr dirty="0" err="1"/>
              <a:t>absoluta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es lo </a:t>
            </a:r>
            <a:r>
              <a:rPr dirty="0" err="1"/>
              <a:t>que</a:t>
            </a:r>
            <a:r>
              <a:rPr dirty="0"/>
              <a:t> ha </a:t>
            </a:r>
            <a:r>
              <a:rPr dirty="0" err="1"/>
              <a:t>generado</a:t>
            </a:r>
            <a:r>
              <a:rPr dirty="0"/>
              <a:t> un </a:t>
            </a:r>
            <a:r>
              <a:rPr dirty="0" err="1"/>
              <a:t>poderoso</a:t>
            </a:r>
            <a:r>
              <a:rPr dirty="0"/>
              <a:t> mercado con </a:t>
            </a:r>
            <a:r>
              <a:rPr dirty="0" err="1"/>
              <a:t>características</a:t>
            </a:r>
            <a:r>
              <a:rPr dirty="0"/>
              <a:t> de </a:t>
            </a:r>
            <a:r>
              <a:rPr dirty="0" err="1"/>
              <a:t>oligopolio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Aquí</a:t>
            </a:r>
            <a:r>
              <a:rPr dirty="0"/>
              <a:t> </a:t>
            </a:r>
            <a:r>
              <a:rPr dirty="0" err="1"/>
              <a:t>vemos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editoriales</a:t>
            </a:r>
            <a:r>
              <a:rPr dirty="0"/>
              <a:t> entre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primeros,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encima</a:t>
            </a:r>
            <a:r>
              <a:rPr dirty="0"/>
              <a:t> de Google, Disney o Apple; Springer, </a:t>
            </a:r>
            <a:r>
              <a:rPr dirty="0" err="1"/>
              <a:t>incluso</a:t>
            </a:r>
            <a:r>
              <a:rPr dirty="0"/>
              <a:t> de Microsoft. Y no es </a:t>
            </a:r>
            <a:r>
              <a:rPr dirty="0" err="1"/>
              <a:t>cosa</a:t>
            </a:r>
            <a:r>
              <a:rPr dirty="0"/>
              <a:t> del </a:t>
            </a:r>
            <a:r>
              <a:rPr dirty="0" err="1"/>
              <a:t>pasado</a:t>
            </a:r>
            <a:r>
              <a:rPr dirty="0"/>
              <a:t>: </a:t>
            </a:r>
            <a:r>
              <a:rPr dirty="0" err="1"/>
              <a:t>en</a:t>
            </a:r>
            <a:r>
              <a:rPr dirty="0"/>
              <a:t> 2025 la </a:t>
            </a:r>
            <a:r>
              <a:rPr dirty="0" err="1"/>
              <a:t>división</a:t>
            </a:r>
            <a:r>
              <a:rPr dirty="0"/>
              <a:t> </a:t>
            </a:r>
            <a:r>
              <a:rPr dirty="0" err="1"/>
              <a:t>científica</a:t>
            </a:r>
            <a:r>
              <a:rPr dirty="0"/>
              <a:t> de RELX, la </a:t>
            </a:r>
            <a:r>
              <a:rPr dirty="0" err="1"/>
              <a:t>matriz</a:t>
            </a:r>
            <a:r>
              <a:rPr dirty="0"/>
              <a:t> de Elsevier, </a:t>
            </a:r>
            <a:r>
              <a:rPr dirty="0" err="1"/>
              <a:t>tuvo</a:t>
            </a:r>
            <a:r>
              <a:rPr dirty="0"/>
              <a:t> un </a:t>
            </a:r>
            <a:r>
              <a:rPr dirty="0" err="1"/>
              <a:t>margen</a:t>
            </a:r>
            <a:r>
              <a:rPr dirty="0"/>
              <a:t> del 38 %,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quince </a:t>
            </a:r>
            <a:r>
              <a:rPr dirty="0" err="1"/>
              <a:t>años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Pero el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oligopolio</a:t>
            </a:r>
            <a:r>
              <a:rPr dirty="0"/>
              <a:t> no es solo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unos</a:t>
            </a:r>
            <a:r>
              <a:rPr dirty="0"/>
              <a:t> </a:t>
            </a:r>
            <a:r>
              <a:rPr dirty="0" err="1"/>
              <a:t>pocos</a:t>
            </a:r>
            <a:r>
              <a:rPr dirty="0"/>
              <a:t> </a:t>
            </a:r>
            <a:r>
              <a:rPr dirty="0" err="1"/>
              <a:t>ganen</a:t>
            </a:r>
            <a:r>
              <a:rPr dirty="0"/>
              <a:t> </a:t>
            </a:r>
            <a:r>
              <a:rPr dirty="0" err="1"/>
              <a:t>mucho</a:t>
            </a:r>
            <a:r>
              <a:rPr dirty="0"/>
              <a:t> dinero </a:t>
            </a:r>
            <a:r>
              <a:rPr dirty="0" err="1"/>
              <a:t>sino</a:t>
            </a:r>
            <a:r>
              <a:rPr dirty="0"/>
              <a:t> la </a:t>
            </a:r>
            <a:r>
              <a:rPr dirty="0" err="1"/>
              <a:t>influencia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hace</a:t>
            </a:r>
            <a:r>
              <a:rPr dirty="0"/>
              <a:t> la </a:t>
            </a:r>
            <a:r>
              <a:rPr dirty="0" err="1"/>
              <a:t>ciencia</a:t>
            </a:r>
            <a:r>
              <a:rPr dirty="0"/>
              <a:t>. Tres </a:t>
            </a:r>
            <a:r>
              <a:rPr dirty="0" err="1"/>
              <a:t>ejemplos</a:t>
            </a:r>
            <a:r>
              <a:rPr dirty="0"/>
              <a:t>. A las </a:t>
            </a:r>
            <a:r>
              <a:rPr dirty="0" err="1"/>
              <a:t>editoriales</a:t>
            </a:r>
            <a:r>
              <a:rPr dirty="0"/>
              <a:t> les </a:t>
            </a:r>
            <a:r>
              <a:rPr dirty="0" err="1"/>
              <a:t>interesa</a:t>
            </a:r>
            <a:r>
              <a:rPr dirty="0"/>
              <a:t> la </a:t>
            </a:r>
            <a:r>
              <a:rPr dirty="0" err="1"/>
              <a:t>cantidad</a:t>
            </a:r>
            <a:r>
              <a:rPr dirty="0"/>
              <a:t> de </a:t>
            </a:r>
            <a:r>
              <a:rPr dirty="0" err="1"/>
              <a:t>producción</a:t>
            </a:r>
            <a:r>
              <a:rPr dirty="0"/>
              <a:t> para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revistas</a:t>
            </a:r>
            <a:r>
              <a:rPr dirty="0"/>
              <a:t> y </a:t>
            </a:r>
            <a:r>
              <a:rPr dirty="0" err="1"/>
              <a:t>expandir</a:t>
            </a:r>
            <a:r>
              <a:rPr dirty="0"/>
              <a:t> el </a:t>
            </a:r>
            <a:r>
              <a:rPr dirty="0" err="1"/>
              <a:t>negocio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tanto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incentivos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promueven</a:t>
            </a:r>
            <a:r>
              <a:rPr dirty="0"/>
              <a:t> la </a:t>
            </a:r>
            <a:r>
              <a:rPr dirty="0" err="1"/>
              <a:t>cantidad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,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conocemos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la </a:t>
            </a:r>
            <a:r>
              <a:rPr dirty="0" err="1"/>
              <a:t>presión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publicar</a:t>
            </a:r>
            <a:r>
              <a:rPr dirty="0"/>
              <a:t> o el </a:t>
            </a:r>
            <a:r>
              <a:rPr dirty="0" err="1"/>
              <a:t>publicar</a:t>
            </a:r>
            <a:r>
              <a:rPr dirty="0"/>
              <a:t> o </a:t>
            </a:r>
            <a:r>
              <a:rPr dirty="0" err="1"/>
              <a:t>perecer</a:t>
            </a:r>
            <a:r>
              <a:rPr dirty="0"/>
              <a:t>. A las </a:t>
            </a:r>
            <a:r>
              <a:rPr dirty="0" err="1"/>
              <a:t>editoriales</a:t>
            </a:r>
            <a:r>
              <a:rPr dirty="0"/>
              <a:t> les </a:t>
            </a:r>
            <a:r>
              <a:rPr dirty="0" err="1"/>
              <a:t>interesa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va</a:t>
            </a:r>
            <a:r>
              <a:rPr dirty="0"/>
              <a:t> a </a:t>
            </a:r>
            <a:r>
              <a:rPr dirty="0" err="1"/>
              <a:t>citar</a:t>
            </a:r>
            <a:r>
              <a:rPr dirty="0"/>
              <a:t>, para </a:t>
            </a:r>
            <a:r>
              <a:rPr dirty="0" err="1"/>
              <a:t>mantener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factor de </a:t>
            </a:r>
            <a:r>
              <a:rPr dirty="0" err="1"/>
              <a:t>impacto</a:t>
            </a:r>
            <a:r>
              <a:rPr dirty="0"/>
              <a:t>; las </a:t>
            </a:r>
            <a:r>
              <a:rPr dirty="0" err="1"/>
              <a:t>replicaciones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negativos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son </a:t>
            </a:r>
            <a:r>
              <a:rPr dirty="0" err="1"/>
              <a:t>fundamentales</a:t>
            </a:r>
            <a:r>
              <a:rPr dirty="0"/>
              <a:t> para </a:t>
            </a:r>
            <a:r>
              <a:rPr dirty="0" err="1"/>
              <a:t>avanzar</a:t>
            </a:r>
            <a:r>
              <a:rPr dirty="0"/>
              <a:t>,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tienen</a:t>
            </a:r>
            <a:r>
              <a:rPr dirty="0"/>
              <a:t> sitio. Y al final el medio es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contenido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Ante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dependencia</a:t>
            </a:r>
            <a:r>
              <a:rPr dirty="0"/>
              <a:t> y sus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incentivos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tanto la </a:t>
            </a:r>
            <a:r>
              <a:rPr dirty="0" err="1"/>
              <a:t>motivación</a:t>
            </a:r>
            <a:r>
              <a:rPr dirty="0"/>
              <a:t> para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buena</a:t>
            </a:r>
            <a:r>
              <a:rPr dirty="0"/>
              <a:t> </a:t>
            </a:r>
            <a:r>
              <a:rPr dirty="0" err="1"/>
              <a:t>ciencia</a:t>
            </a:r>
            <a:r>
              <a:rPr dirty="0"/>
              <a:t> ha </a:t>
            </a:r>
            <a:r>
              <a:rPr dirty="0" err="1"/>
              <a:t>reaccionado</a:t>
            </a:r>
            <a:r>
              <a:rPr dirty="0"/>
              <a:t> la </a:t>
            </a:r>
            <a:r>
              <a:rPr dirty="0" err="1"/>
              <a:t>propia</a:t>
            </a:r>
            <a:r>
              <a:rPr dirty="0"/>
              <a:t> comunidad </a:t>
            </a:r>
            <a:r>
              <a:rPr dirty="0" err="1"/>
              <a:t>científica</a:t>
            </a:r>
            <a:r>
              <a:rPr dirty="0"/>
              <a:t>. La </a:t>
            </a:r>
            <a:r>
              <a:rPr dirty="0" err="1"/>
              <a:t>primera</a:t>
            </a:r>
            <a:r>
              <a:rPr dirty="0"/>
              <a:t> </a:t>
            </a:r>
            <a:r>
              <a:rPr dirty="0" err="1"/>
              <a:t>confrontación</a:t>
            </a:r>
            <a:r>
              <a:rPr dirty="0"/>
              <a:t> ha </a:t>
            </a:r>
            <a:r>
              <a:rPr dirty="0" err="1"/>
              <a:t>sido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el derecho al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de las </a:t>
            </a:r>
            <a:r>
              <a:rPr dirty="0" err="1"/>
              <a:t>primeras</a:t>
            </a:r>
            <a:r>
              <a:rPr dirty="0"/>
              <a:t> </a:t>
            </a:r>
            <a:r>
              <a:rPr dirty="0" err="1"/>
              <a:t>batallas</a:t>
            </a:r>
            <a:r>
              <a:rPr dirty="0"/>
              <a:t> ha </a:t>
            </a:r>
            <a:r>
              <a:rPr dirty="0" err="1"/>
              <a:t>sido</a:t>
            </a:r>
            <a:r>
              <a:rPr dirty="0"/>
              <a:t> la </a:t>
            </a:r>
            <a:r>
              <a:rPr dirty="0" err="1"/>
              <a:t>iniciativa</a:t>
            </a:r>
            <a:r>
              <a:rPr dirty="0"/>
              <a:t> de Budapest, </a:t>
            </a: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representantes</a:t>
            </a:r>
            <a:r>
              <a:rPr dirty="0"/>
              <a:t> de la comunidad </a:t>
            </a:r>
            <a:r>
              <a:rPr dirty="0" err="1"/>
              <a:t>científica</a:t>
            </a:r>
            <a:r>
              <a:rPr dirty="0"/>
              <a:t> se </a:t>
            </a:r>
            <a:r>
              <a:rPr dirty="0" err="1"/>
              <a:t>reunieron</a:t>
            </a:r>
            <a:r>
              <a:rPr dirty="0"/>
              <a:t> para </a:t>
            </a:r>
            <a:r>
              <a:rPr dirty="0" err="1"/>
              <a:t>proponer</a:t>
            </a:r>
            <a:r>
              <a:rPr dirty="0"/>
              <a:t> el </a:t>
            </a:r>
            <a:r>
              <a:rPr dirty="0" err="1"/>
              <a:t>autoarchivo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repositorios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la </a:t>
            </a:r>
            <a:r>
              <a:rPr dirty="0" err="1"/>
              <a:t>vía</a:t>
            </a:r>
            <a:r>
              <a:rPr dirty="0"/>
              <a:t> principal de </a:t>
            </a:r>
            <a:r>
              <a:rPr dirty="0" err="1"/>
              <a:t>conseguir</a:t>
            </a:r>
            <a:r>
              <a:rPr dirty="0"/>
              <a:t> el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y sin </a:t>
            </a:r>
            <a:r>
              <a:rPr dirty="0" err="1"/>
              <a:t>descartar</a:t>
            </a:r>
            <a:r>
              <a:rPr dirty="0"/>
              <a:t> la </a:t>
            </a:r>
            <a:r>
              <a:rPr dirty="0" err="1"/>
              <a:t>posibilidad</a:t>
            </a:r>
            <a:r>
              <a:rPr dirty="0"/>
              <a:t> también de la </a:t>
            </a:r>
            <a:r>
              <a:rPr dirty="0" err="1"/>
              <a:t>existencia</a:t>
            </a:r>
            <a:r>
              <a:rPr dirty="0"/>
              <a:t> de </a:t>
            </a:r>
            <a:r>
              <a:rPr dirty="0" err="1"/>
              <a:t>revistas</a:t>
            </a:r>
            <a:r>
              <a:rPr dirty="0"/>
              <a:t> de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.</a:t>
            </a:r>
          </a:p>
          <a:p>
            <a:r>
              <a:rPr dirty="0"/>
              <a:t>Los </a:t>
            </a:r>
            <a:r>
              <a:rPr dirty="0" err="1"/>
              <a:t>físicos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estéis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sala lo </a:t>
            </a:r>
            <a:r>
              <a:rPr dirty="0" err="1"/>
              <a:t>conocéis</a:t>
            </a:r>
            <a:r>
              <a:rPr dirty="0"/>
              <a:t> bien: </a:t>
            </a:r>
            <a:r>
              <a:rPr dirty="0" err="1"/>
              <a:t>desde</a:t>
            </a:r>
            <a:r>
              <a:rPr dirty="0"/>
              <a:t> 1991,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año</a:t>
            </a:r>
            <a:r>
              <a:rPr dirty="0"/>
              <a:t> de la </a:t>
            </a:r>
            <a:r>
              <a:rPr dirty="0" err="1"/>
              <a:t>primera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web, la </a:t>
            </a:r>
            <a:r>
              <a:rPr dirty="0" err="1"/>
              <a:t>física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arXiv, un </a:t>
            </a:r>
            <a:r>
              <a:rPr dirty="0" err="1"/>
              <a:t>repositorio</a:t>
            </a:r>
            <a:r>
              <a:rPr dirty="0"/>
              <a:t> </a:t>
            </a: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casi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disponible </a:t>
            </a:r>
            <a:r>
              <a:rPr dirty="0" err="1"/>
              <a:t>desde</a:t>
            </a:r>
            <a:r>
              <a:rPr dirty="0"/>
              <a:t> el primer 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Sin embargo, las dos </a:t>
            </a:r>
            <a:r>
              <a:rPr dirty="0" err="1"/>
              <a:t>vías</a:t>
            </a:r>
            <a:r>
              <a:rPr dirty="0"/>
              <a:t> </a:t>
            </a:r>
            <a:r>
              <a:rPr dirty="0" err="1"/>
              <a:t>tenían</a:t>
            </a:r>
            <a:r>
              <a:rPr dirty="0"/>
              <a:t> </a:t>
            </a:r>
            <a:r>
              <a:rPr dirty="0" err="1"/>
              <a:t>consecuencias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distintas</a:t>
            </a:r>
            <a:r>
              <a:rPr dirty="0"/>
              <a:t> para el </a:t>
            </a:r>
            <a:r>
              <a:rPr dirty="0" err="1"/>
              <a:t>negocio</a:t>
            </a:r>
            <a:r>
              <a:rPr dirty="0"/>
              <a:t> editorial. La </a:t>
            </a:r>
            <a:r>
              <a:rPr dirty="0" err="1"/>
              <a:t>vía</a:t>
            </a:r>
            <a:r>
              <a:rPr dirty="0"/>
              <a:t> </a:t>
            </a:r>
            <a:r>
              <a:rPr dirty="0" err="1"/>
              <a:t>verde</a:t>
            </a:r>
            <a:r>
              <a:rPr dirty="0"/>
              <a:t> era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amenaza</a:t>
            </a:r>
            <a:r>
              <a:rPr dirty="0"/>
              <a:t>: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repositorio</a:t>
            </a:r>
            <a:r>
              <a:rPr dirty="0"/>
              <a:t>, ¿para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pagar</a:t>
            </a:r>
            <a:r>
              <a:rPr dirty="0"/>
              <a:t> la </a:t>
            </a:r>
            <a:r>
              <a:rPr dirty="0" err="1"/>
              <a:t>suscripción</a:t>
            </a:r>
            <a:r>
              <a:rPr dirty="0"/>
              <a:t>? La </a:t>
            </a:r>
            <a:r>
              <a:rPr dirty="0" err="1"/>
              <a:t>vía</a:t>
            </a:r>
            <a:r>
              <a:rPr dirty="0"/>
              <a:t> </a:t>
            </a:r>
            <a:r>
              <a:rPr dirty="0" err="1"/>
              <a:t>dorada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cambio</a:t>
            </a:r>
            <a:r>
              <a:rPr dirty="0"/>
              <a:t>, </a:t>
            </a:r>
            <a:r>
              <a:rPr dirty="0" err="1"/>
              <a:t>abría</a:t>
            </a:r>
            <a:r>
              <a:rPr dirty="0"/>
              <a:t> un </a:t>
            </a:r>
            <a:r>
              <a:rPr dirty="0" err="1"/>
              <a:t>cliente</a:t>
            </a:r>
            <a:r>
              <a:rPr dirty="0"/>
              <a:t> nuevo: el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autor</a:t>
            </a:r>
            <a:r>
              <a:rPr dirty="0"/>
              <a:t>. Lo </a:t>
            </a:r>
            <a:r>
              <a:rPr dirty="0" err="1"/>
              <a:t>dijo</a:t>
            </a:r>
            <a:r>
              <a:rPr dirty="0"/>
              <a:t> un consultor del sector sin rodeos: la </a:t>
            </a:r>
            <a:r>
              <a:rPr dirty="0" err="1"/>
              <a:t>vía</a:t>
            </a:r>
            <a:r>
              <a:rPr dirty="0"/>
              <a:t> </a:t>
            </a:r>
            <a:r>
              <a:rPr dirty="0" err="1"/>
              <a:t>dorada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oportunidad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; la </a:t>
            </a:r>
            <a:r>
              <a:rPr dirty="0" err="1"/>
              <a:t>verde</a:t>
            </a:r>
            <a:r>
              <a:rPr dirty="0"/>
              <a:t>, un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. Y el </a:t>
            </a:r>
            <a:r>
              <a:rPr dirty="0" err="1"/>
              <a:t>mensaje</a:t>
            </a:r>
            <a:r>
              <a:rPr dirty="0"/>
              <a:t> se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desplazando</a:t>
            </a:r>
            <a:r>
              <a:rPr dirty="0"/>
              <a:t>. Las </a:t>
            </a:r>
            <a:r>
              <a:rPr dirty="0" err="1"/>
              <a:t>editoriales</a:t>
            </a:r>
            <a:r>
              <a:rPr dirty="0"/>
              <a:t> </a:t>
            </a:r>
            <a:r>
              <a:rPr dirty="0" err="1"/>
              <a:t>pasaron</a:t>
            </a:r>
            <a:r>
              <a:rPr dirty="0"/>
              <a:t> a la </a:t>
            </a:r>
            <a:r>
              <a:rPr dirty="0" err="1"/>
              <a:t>ofensiva</a:t>
            </a:r>
            <a:r>
              <a:rPr dirty="0"/>
              <a:t> y, a </a:t>
            </a:r>
            <a:r>
              <a:rPr dirty="0" err="1"/>
              <a:t>través</a:t>
            </a:r>
            <a:r>
              <a:rPr dirty="0"/>
              <a:t> de </a:t>
            </a:r>
            <a:r>
              <a:rPr dirty="0" err="1"/>
              <a:t>presión</a:t>
            </a:r>
            <a:r>
              <a:rPr dirty="0"/>
              <a:t> e </a:t>
            </a:r>
            <a:r>
              <a:rPr dirty="0" err="1"/>
              <a:t>informes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el Finch </a:t>
            </a:r>
            <a:r>
              <a:rPr dirty="0" err="1"/>
              <a:t>en</a:t>
            </a:r>
            <a:r>
              <a:rPr dirty="0"/>
              <a:t> el Reino </a:t>
            </a:r>
            <a:r>
              <a:rPr dirty="0" err="1"/>
              <a:t>Unido</a:t>
            </a:r>
            <a:r>
              <a:rPr dirty="0"/>
              <a:t> (2012), </a:t>
            </a:r>
            <a:r>
              <a:rPr dirty="0" err="1"/>
              <a:t>consiguieron</a:t>
            </a:r>
            <a:r>
              <a:rPr dirty="0"/>
              <a:t> </a:t>
            </a:r>
            <a:r>
              <a:rPr dirty="0" err="1"/>
              <a:t>boicotear</a:t>
            </a:r>
            <a:r>
              <a:rPr dirty="0"/>
              <a:t> la </a:t>
            </a:r>
            <a:r>
              <a:rPr dirty="0" err="1"/>
              <a:t>vía</a:t>
            </a:r>
            <a:r>
              <a:rPr dirty="0"/>
              <a:t> </a:t>
            </a:r>
            <a:r>
              <a:rPr dirty="0" err="1"/>
              <a:t>verde</a:t>
            </a:r>
            <a:r>
              <a:rPr dirty="0"/>
              <a:t>, </a:t>
            </a:r>
            <a:r>
              <a:rPr dirty="0" err="1"/>
              <a:t>tergiversar</a:t>
            </a:r>
            <a:r>
              <a:rPr dirty="0"/>
              <a:t> el </a:t>
            </a:r>
            <a:r>
              <a:rPr dirty="0" err="1"/>
              <a:t>mensaje</a:t>
            </a:r>
            <a:r>
              <a:rPr dirty="0"/>
              <a:t> de Budapest e </a:t>
            </a:r>
            <a:r>
              <a:rPr dirty="0" err="1"/>
              <a:t>instalar</a:t>
            </a:r>
            <a:r>
              <a:rPr dirty="0"/>
              <a:t> la idea falsa de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vía</a:t>
            </a:r>
            <a:r>
              <a:rPr dirty="0"/>
              <a:t> para </a:t>
            </a:r>
            <a:r>
              <a:rPr dirty="0" err="1"/>
              <a:t>conseguir</a:t>
            </a:r>
            <a:r>
              <a:rPr dirty="0"/>
              <a:t>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es </a:t>
            </a:r>
            <a:r>
              <a:rPr dirty="0" err="1"/>
              <a:t>pagando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ello</a:t>
            </a:r>
            <a:r>
              <a:rPr dirty="0"/>
              <a:t> a las </a:t>
            </a:r>
            <a:r>
              <a:rPr dirty="0" err="1"/>
              <a:t>revistas</a:t>
            </a:r>
            <a:r>
              <a:rPr dirty="0"/>
              <a:t>. </a:t>
            </a:r>
            <a:r>
              <a:rPr dirty="0" err="1"/>
              <a:t>Incluso</a:t>
            </a:r>
            <a:r>
              <a:rPr dirty="0"/>
              <a:t> el Plan S (2018), con el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financiadores</a:t>
            </a:r>
            <a:r>
              <a:rPr dirty="0"/>
              <a:t> </a:t>
            </a:r>
            <a:r>
              <a:rPr dirty="0" err="1"/>
              <a:t>europeos</a:t>
            </a:r>
            <a:r>
              <a:rPr dirty="0"/>
              <a:t> </a:t>
            </a:r>
            <a:r>
              <a:rPr dirty="0" err="1"/>
              <a:t>exigieron</a:t>
            </a:r>
            <a:r>
              <a:rPr dirty="0"/>
              <a:t>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</a:t>
            </a:r>
            <a:r>
              <a:rPr dirty="0" err="1"/>
              <a:t>inmediato</a:t>
            </a:r>
            <a:r>
              <a:rPr dirty="0"/>
              <a:t>, </a:t>
            </a:r>
            <a:r>
              <a:rPr dirty="0" err="1"/>
              <a:t>admitió</a:t>
            </a:r>
            <a:r>
              <a:rPr dirty="0"/>
              <a:t> el </a:t>
            </a:r>
            <a:r>
              <a:rPr dirty="0" err="1"/>
              <a:t>pago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publicar</a:t>
            </a:r>
            <a:r>
              <a:rPr dirty="0"/>
              <a:t>, y hoy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acuerdos</a:t>
            </a:r>
            <a:r>
              <a:rPr dirty="0"/>
              <a:t> </a:t>
            </a:r>
            <a:r>
              <a:rPr dirty="0" err="1"/>
              <a:t>transformativos</a:t>
            </a:r>
            <a:r>
              <a:rPr dirty="0"/>
              <a:t>, </a:t>
            </a:r>
            <a:r>
              <a:rPr dirty="0" err="1"/>
              <a:t>nacionales</a:t>
            </a:r>
            <a:r>
              <a:rPr dirty="0"/>
              <a:t> e </a:t>
            </a:r>
            <a:r>
              <a:rPr dirty="0" err="1"/>
              <a:t>internacionales</a:t>
            </a:r>
            <a:r>
              <a:rPr dirty="0"/>
              <a:t>, </a:t>
            </a:r>
            <a:r>
              <a:rPr dirty="0" err="1"/>
              <a:t>hacen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pague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leer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publicar</a:t>
            </a:r>
            <a:r>
              <a:rPr dirty="0"/>
              <a:t>.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negocio</a:t>
            </a:r>
            <a:r>
              <a:rPr dirty="0"/>
              <a:t> se ha </a:t>
            </a:r>
            <a:r>
              <a:rPr dirty="0" err="1"/>
              <a:t>adaptado</a:t>
            </a:r>
            <a:r>
              <a:rPr dirty="0"/>
              <a:t> y ha </a:t>
            </a:r>
            <a:r>
              <a:rPr dirty="0" err="1"/>
              <a:t>encontrado</a:t>
            </a:r>
            <a:r>
              <a:rPr dirty="0"/>
              <a:t> la </a:t>
            </a:r>
            <a:r>
              <a:rPr dirty="0" err="1"/>
              <a:t>manera</a:t>
            </a:r>
            <a:r>
              <a:rPr dirty="0"/>
              <a:t> de </a:t>
            </a:r>
            <a:r>
              <a:rPr dirty="0" err="1"/>
              <a:t>seguir</a:t>
            </a:r>
            <a:r>
              <a:rPr dirty="0"/>
              <a:t> </a:t>
            </a:r>
            <a:r>
              <a:rPr dirty="0" err="1"/>
              <a:t>cobrando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Vimos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repositorios</a:t>
            </a:r>
            <a:r>
              <a:rPr dirty="0"/>
              <a:t> </a:t>
            </a:r>
            <a:r>
              <a:rPr dirty="0" err="1"/>
              <a:t>podrían</a:t>
            </a:r>
            <a:r>
              <a:rPr dirty="0"/>
              <a:t> </a:t>
            </a:r>
            <a:r>
              <a:rPr dirty="0" err="1"/>
              <a:t>haber</a:t>
            </a:r>
            <a:r>
              <a:rPr dirty="0"/>
              <a:t> </a:t>
            </a:r>
            <a:r>
              <a:rPr dirty="0" err="1"/>
              <a:t>sido</a:t>
            </a:r>
            <a:r>
              <a:rPr dirty="0"/>
              <a:t> la </a:t>
            </a:r>
            <a:r>
              <a:rPr dirty="0" err="1"/>
              <a:t>solución</a:t>
            </a:r>
            <a:r>
              <a:rPr dirty="0"/>
              <a:t> al </a:t>
            </a:r>
            <a:r>
              <a:rPr dirty="0" err="1"/>
              <a:t>problema</a:t>
            </a:r>
            <a:r>
              <a:rPr dirty="0"/>
              <a:t> del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había</a:t>
            </a:r>
            <a:r>
              <a:rPr dirty="0"/>
              <a:t> </a:t>
            </a:r>
            <a:r>
              <a:rPr dirty="0" err="1"/>
              <a:t>propuesto</a:t>
            </a:r>
            <a:r>
              <a:rPr dirty="0"/>
              <a:t> la Iniciativa de Budapest. Sin embargo, ¿se </a:t>
            </a:r>
            <a:r>
              <a:rPr dirty="0" err="1"/>
              <a:t>quedaría</a:t>
            </a:r>
            <a:r>
              <a:rPr dirty="0"/>
              <a:t> el </a:t>
            </a:r>
            <a:r>
              <a:rPr dirty="0" err="1"/>
              <a:t>problema</a:t>
            </a:r>
            <a:r>
              <a:rPr dirty="0"/>
              <a:t> de la </a:t>
            </a:r>
            <a:r>
              <a:rPr dirty="0" err="1"/>
              <a:t>validación</a:t>
            </a:r>
            <a:r>
              <a:rPr dirty="0"/>
              <a:t>? ¿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sabemos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la </a:t>
            </a:r>
            <a:r>
              <a:rPr dirty="0" err="1"/>
              <a:t>investigación</a:t>
            </a:r>
            <a:r>
              <a:rPr dirty="0"/>
              <a:t> </a:t>
            </a:r>
            <a:r>
              <a:rPr dirty="0" err="1"/>
              <a:t>publicada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repositorio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sus </a:t>
            </a:r>
            <a:r>
              <a:rPr dirty="0" err="1"/>
              <a:t>autores</a:t>
            </a:r>
            <a:r>
              <a:rPr dirty="0"/>
              <a:t> es </a:t>
            </a:r>
            <a:r>
              <a:rPr dirty="0" err="1"/>
              <a:t>válida</a:t>
            </a:r>
            <a:r>
              <a:rPr dirty="0"/>
              <a:t>? Para </a:t>
            </a:r>
            <a:r>
              <a:rPr dirty="0" err="1"/>
              <a:t>demostrar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repos también </a:t>
            </a:r>
            <a:r>
              <a:rPr dirty="0" err="1"/>
              <a:t>podrían</a:t>
            </a:r>
            <a:r>
              <a:rPr dirty="0"/>
              <a:t> </a:t>
            </a:r>
            <a:r>
              <a:rPr dirty="0" err="1"/>
              <a:t>cumplir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función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mencionar</a:t>
            </a:r>
            <a:r>
              <a:rPr dirty="0"/>
              <a:t> un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donde</a:t>
            </a:r>
            <a:r>
              <a:rPr dirty="0"/>
              <a:t> España es </a:t>
            </a:r>
            <a:r>
              <a:rPr dirty="0" err="1"/>
              <a:t>pionera</a:t>
            </a:r>
            <a:r>
              <a:rPr dirty="0"/>
              <a:t> al </a:t>
            </a:r>
            <a:r>
              <a:rPr dirty="0" err="1"/>
              <a:t>contar</a:t>
            </a:r>
            <a:r>
              <a:rPr dirty="0"/>
              <a:t> </a:t>
            </a:r>
            <a:r>
              <a:rPr dirty="0" err="1"/>
              <a:t>quizás</a:t>
            </a:r>
            <a:r>
              <a:rPr dirty="0"/>
              <a:t> con la </a:t>
            </a:r>
            <a:r>
              <a:rPr dirty="0" err="1"/>
              <a:t>primera</a:t>
            </a:r>
            <a:r>
              <a:rPr dirty="0"/>
              <a:t> </a:t>
            </a:r>
            <a:r>
              <a:rPr dirty="0" err="1"/>
              <a:t>revista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publica </a:t>
            </a:r>
            <a:r>
              <a:rPr dirty="0" err="1"/>
              <a:t>exclusivamente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repositorio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. La </a:t>
            </a:r>
            <a:r>
              <a:rPr dirty="0" err="1"/>
              <a:t>revista</a:t>
            </a:r>
            <a:r>
              <a:rPr dirty="0"/>
              <a:t> </a:t>
            </a:r>
            <a:r>
              <a:rPr dirty="0" err="1"/>
              <a:t>Psicológica</a:t>
            </a:r>
            <a:r>
              <a:rPr dirty="0"/>
              <a:t>, de la Sociedad Española para la </a:t>
            </a:r>
            <a:r>
              <a:rPr dirty="0" err="1"/>
              <a:t>Psicología</a:t>
            </a:r>
            <a:r>
              <a:rPr dirty="0"/>
              <a:t> Experimental (SEPEX), publica </a:t>
            </a:r>
            <a:r>
              <a:rPr dirty="0" err="1"/>
              <a:t>desde</a:t>
            </a:r>
            <a:r>
              <a:rPr dirty="0"/>
              <a:t> 2022 </a:t>
            </a:r>
            <a:r>
              <a:rPr dirty="0" err="1"/>
              <a:t>exclusivamente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DIGITAL.CSIC, el </a:t>
            </a:r>
            <a:r>
              <a:rPr dirty="0" err="1"/>
              <a:t>repositorio</a:t>
            </a:r>
            <a:r>
              <a:rPr dirty="0"/>
              <a:t> del CSIC. </a:t>
            </a:r>
            <a:r>
              <a:rPr dirty="0" err="1"/>
              <a:t>Además</a:t>
            </a:r>
            <a:r>
              <a:rPr dirty="0"/>
              <a:t> publica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las </a:t>
            </a:r>
            <a:r>
              <a:rPr dirty="0" err="1"/>
              <a:t>revisiones</a:t>
            </a:r>
            <a:r>
              <a:rPr dirty="0"/>
              <a:t> </a:t>
            </a:r>
            <a:r>
              <a:rPr dirty="0" err="1"/>
              <a:t>ofreciendo</a:t>
            </a:r>
            <a:r>
              <a:rPr dirty="0"/>
              <a:t> un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transparencia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editoriales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solemos</a:t>
            </a:r>
            <a:r>
              <a:rPr dirty="0"/>
              <a:t> encontrar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revistas</a:t>
            </a:r>
            <a:r>
              <a:rPr dirty="0"/>
              <a:t> de </a:t>
            </a:r>
            <a:r>
              <a:rPr dirty="0" err="1"/>
              <a:t>editoriales</a:t>
            </a:r>
            <a:r>
              <a:rPr dirty="0"/>
              <a:t> </a:t>
            </a:r>
            <a:r>
              <a:rPr dirty="0" err="1"/>
              <a:t>comerciales</a:t>
            </a:r>
            <a:r>
              <a:rPr dirty="0"/>
              <a:t>. En </a:t>
            </a:r>
            <a:r>
              <a:rPr dirty="0" err="1"/>
              <a:t>colaboración</a:t>
            </a:r>
            <a:r>
              <a:rPr dirty="0"/>
              <a:t>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investigadores</a:t>
            </a:r>
            <a:r>
              <a:rPr dirty="0"/>
              <a:t>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repositorios</a:t>
            </a:r>
            <a:r>
              <a:rPr dirty="0"/>
              <a:t> también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ofrecer</a:t>
            </a:r>
            <a:r>
              <a:rPr dirty="0"/>
              <a:t> </a:t>
            </a:r>
            <a:r>
              <a:rPr dirty="0" err="1"/>
              <a:t>validación</a:t>
            </a:r>
            <a:r>
              <a:rPr dirty="0"/>
              <a:t> de la </a:t>
            </a:r>
            <a:r>
              <a:rPr dirty="0" err="1"/>
              <a:t>investigación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tercera</a:t>
            </a:r>
            <a:r>
              <a:rPr dirty="0"/>
              <a:t> </a:t>
            </a:r>
            <a:r>
              <a:rPr dirty="0" err="1"/>
              <a:t>función</a:t>
            </a:r>
            <a:r>
              <a:rPr dirty="0"/>
              <a:t> de la </a:t>
            </a:r>
            <a:r>
              <a:rPr dirty="0" err="1"/>
              <a:t>evaluación</a:t>
            </a:r>
            <a:r>
              <a:rPr dirty="0"/>
              <a:t> es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trae</a:t>
            </a:r>
            <a:r>
              <a:rPr dirty="0"/>
              <a:t> hoy </a:t>
            </a:r>
            <a:r>
              <a:rPr dirty="0" err="1"/>
              <a:t>aquí</a:t>
            </a:r>
            <a:r>
              <a:rPr dirty="0"/>
              <a:t> y es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no solo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investigadores</a:t>
            </a:r>
            <a:r>
              <a:rPr dirty="0"/>
              <a:t> y las </a:t>
            </a:r>
            <a:r>
              <a:rPr dirty="0" err="1"/>
              <a:t>bibliotecas</a:t>
            </a:r>
            <a:r>
              <a:rPr dirty="0"/>
              <a:t>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repositorios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también de las </a:t>
            </a:r>
            <a:r>
              <a:rPr dirty="0" err="1"/>
              <a:t>agencias</a:t>
            </a:r>
            <a:r>
              <a:rPr dirty="0"/>
              <a:t> de </a:t>
            </a:r>
            <a:r>
              <a:rPr dirty="0" err="1"/>
              <a:t>financiación</a:t>
            </a:r>
            <a:r>
              <a:rPr dirty="0"/>
              <a:t> y </a:t>
            </a:r>
            <a:r>
              <a:rPr dirty="0" err="1"/>
              <a:t>acreditación</a:t>
            </a:r>
            <a:r>
              <a:rPr dirty="0"/>
              <a:t>, las </a:t>
            </a:r>
            <a:r>
              <a:rPr dirty="0" err="1"/>
              <a:t>universidades</a:t>
            </a:r>
            <a:r>
              <a:rPr dirty="0"/>
              <a:t>, las </a:t>
            </a:r>
            <a:r>
              <a:rPr dirty="0" err="1"/>
              <a:t>comisiones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. Son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actualmente</a:t>
            </a:r>
            <a:r>
              <a:rPr dirty="0"/>
              <a:t> </a:t>
            </a:r>
            <a:r>
              <a:rPr dirty="0" err="1"/>
              <a:t>usamos</a:t>
            </a:r>
            <a:r>
              <a:rPr dirty="0"/>
              <a:t> la </a:t>
            </a:r>
            <a:r>
              <a:rPr dirty="0" err="1"/>
              <a:t>revista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atajo. </a:t>
            </a:r>
            <a:r>
              <a:rPr dirty="0" err="1"/>
              <a:t>Usamos</a:t>
            </a:r>
            <a:r>
              <a:rPr dirty="0"/>
              <a:t> las </a:t>
            </a:r>
            <a:r>
              <a:rPr dirty="0" err="1"/>
              <a:t>revistas</a:t>
            </a:r>
            <a:r>
              <a:rPr dirty="0"/>
              <a:t> para </a:t>
            </a:r>
            <a:r>
              <a:rPr dirty="0" err="1"/>
              <a:t>externalizar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difícil</a:t>
            </a:r>
            <a:r>
              <a:rPr dirty="0"/>
              <a:t> de la </a:t>
            </a:r>
            <a:r>
              <a:rPr dirty="0" err="1"/>
              <a:t>evaluación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es a la </a:t>
            </a:r>
            <a:r>
              <a:rPr dirty="0" err="1"/>
              <a:t>vez</a:t>
            </a:r>
            <a:r>
              <a:rPr dirty="0"/>
              <a:t> lo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a la hora de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financiar</a:t>
            </a:r>
            <a:r>
              <a:rPr dirty="0"/>
              <a:t> o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candidato</a:t>
            </a:r>
            <a:r>
              <a:rPr dirty="0"/>
              <a:t> </a:t>
            </a:r>
            <a:r>
              <a:rPr dirty="0" err="1"/>
              <a:t>contratar</a:t>
            </a:r>
            <a:r>
              <a:rPr dirty="0"/>
              <a:t>,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repartir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limitados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tanto </a:t>
            </a:r>
            <a:r>
              <a:rPr dirty="0" err="1"/>
              <a:t>determinar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última</a:t>
            </a:r>
            <a:r>
              <a:rPr dirty="0"/>
              <a:t> </a:t>
            </a:r>
            <a:r>
              <a:rPr dirty="0" err="1"/>
              <a:t>instancia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 de la </a:t>
            </a:r>
            <a:r>
              <a:rPr dirty="0" err="1"/>
              <a:t>ciencia</a:t>
            </a:r>
            <a:r>
              <a:rPr dirty="0"/>
              <a:t>.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caso</a:t>
            </a:r>
            <a:r>
              <a:rPr dirty="0"/>
              <a:t> de la </a:t>
            </a:r>
            <a:r>
              <a:rPr dirty="0" err="1"/>
              <a:t>evaluación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tanto la </a:t>
            </a:r>
            <a:r>
              <a:rPr dirty="0" err="1"/>
              <a:t>reacción</a:t>
            </a:r>
            <a:r>
              <a:rPr dirty="0"/>
              <a:t> ha </a:t>
            </a:r>
            <a:r>
              <a:rPr dirty="0" err="1"/>
              <a:t>venido</a:t>
            </a:r>
            <a:r>
              <a:rPr dirty="0"/>
              <a:t> no solo de </a:t>
            </a:r>
            <a:r>
              <a:rPr dirty="0" err="1"/>
              <a:t>parte</a:t>
            </a:r>
            <a:r>
              <a:rPr dirty="0"/>
              <a:t> de la comunidad </a:t>
            </a:r>
            <a:r>
              <a:rPr dirty="0" err="1"/>
              <a:t>investigadora</a:t>
            </a:r>
            <a:r>
              <a:rPr dirty="0"/>
              <a:t> </a:t>
            </a:r>
            <a:r>
              <a:rPr dirty="0" err="1"/>
              <a:t>sino</a:t>
            </a:r>
            <a:r>
              <a:rPr dirty="0"/>
              <a:t> también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 </a:t>
            </a:r>
            <a:r>
              <a:rPr dirty="0" err="1"/>
              <a:t>organismos</a:t>
            </a:r>
            <a:r>
              <a:rPr dirty="0"/>
              <a:t> de </a:t>
            </a:r>
            <a:r>
              <a:rPr dirty="0" err="1"/>
              <a:t>generación</a:t>
            </a:r>
            <a:r>
              <a:rPr dirty="0"/>
              <a:t> y </a:t>
            </a: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conocimiento</a:t>
            </a:r>
            <a:r>
              <a:rPr dirty="0"/>
              <a:t>.</a:t>
            </a:r>
          </a:p>
          <a:p>
            <a:r>
              <a:rPr dirty="0"/>
              <a:t>Cabe </a:t>
            </a:r>
            <a:r>
              <a:rPr dirty="0" err="1"/>
              <a:t>destacar</a:t>
            </a:r>
            <a:r>
              <a:rPr dirty="0"/>
              <a:t> dos </a:t>
            </a:r>
            <a:r>
              <a:rPr dirty="0" err="1"/>
              <a:t>hitos</a:t>
            </a:r>
            <a:r>
              <a:rPr dirty="0"/>
              <a:t>. DORA, la </a:t>
            </a:r>
            <a:r>
              <a:rPr dirty="0" err="1"/>
              <a:t>Declaración</a:t>
            </a:r>
            <a:r>
              <a:rPr dirty="0"/>
              <a:t> de San Francisco, </a:t>
            </a:r>
            <a:r>
              <a:rPr dirty="0" err="1"/>
              <a:t>en</a:t>
            </a:r>
            <a:r>
              <a:rPr dirty="0"/>
              <a:t> 2012: no usar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revista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el factor de </a:t>
            </a:r>
            <a:r>
              <a:rPr dirty="0" err="1"/>
              <a:t>impacto</a:t>
            </a:r>
            <a:r>
              <a:rPr dirty="0"/>
              <a:t>, para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artículos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personas, </a:t>
            </a:r>
            <a:r>
              <a:rPr dirty="0" err="1"/>
              <a:t>ni</a:t>
            </a:r>
            <a:r>
              <a:rPr dirty="0"/>
              <a:t> para </a:t>
            </a:r>
            <a:r>
              <a:rPr dirty="0" err="1"/>
              <a:t>contratar</a:t>
            </a:r>
            <a:r>
              <a:rPr dirty="0"/>
              <a:t>, </a:t>
            </a:r>
            <a:r>
              <a:rPr dirty="0" err="1"/>
              <a:t>promocionar</a:t>
            </a:r>
            <a:r>
              <a:rPr dirty="0"/>
              <a:t> o </a:t>
            </a:r>
            <a:r>
              <a:rPr dirty="0" err="1"/>
              <a:t>financiar</a:t>
            </a:r>
            <a:r>
              <a:rPr dirty="0"/>
              <a:t>. Y el </a:t>
            </a:r>
            <a:r>
              <a:rPr dirty="0" err="1"/>
              <a:t>Manifiesto</a:t>
            </a:r>
            <a:r>
              <a:rPr dirty="0"/>
              <a:t> de Leiden, </a:t>
            </a:r>
            <a:r>
              <a:rPr dirty="0" err="1"/>
              <a:t>en</a:t>
            </a:r>
            <a:r>
              <a:rPr dirty="0"/>
              <a:t> 2015: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ayudar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apoyo</a:t>
            </a:r>
            <a:r>
              <a:rPr dirty="0"/>
              <a:t> al </a:t>
            </a:r>
            <a:r>
              <a:rPr dirty="0" err="1"/>
              <a:t>juicio</a:t>
            </a:r>
            <a:r>
              <a:rPr dirty="0"/>
              <a:t> de </a:t>
            </a:r>
            <a:r>
              <a:rPr dirty="0" err="1"/>
              <a:t>expertos</a:t>
            </a:r>
            <a:r>
              <a:rPr dirty="0"/>
              <a:t>, no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CoARA</a:t>
            </a:r>
            <a:r>
              <a:rPr dirty="0"/>
              <a:t> es el paso </a:t>
            </a:r>
            <a:r>
              <a:rPr dirty="0" err="1"/>
              <a:t>siguiente</a:t>
            </a:r>
            <a:r>
              <a:rPr dirty="0"/>
              <a:t>. El </a:t>
            </a:r>
            <a:r>
              <a:rPr dirty="0" err="1"/>
              <a:t>Acuerdo</a:t>
            </a:r>
            <a:r>
              <a:rPr dirty="0"/>
              <a:t> para la Reforma de la </a:t>
            </a:r>
            <a:r>
              <a:rPr dirty="0" err="1"/>
              <a:t>Evaluación</a:t>
            </a:r>
            <a:r>
              <a:rPr dirty="0"/>
              <a:t> de la </a:t>
            </a:r>
            <a:r>
              <a:rPr dirty="0" err="1"/>
              <a:t>Investigación</a:t>
            </a:r>
            <a:r>
              <a:rPr dirty="0"/>
              <a:t> se </a:t>
            </a:r>
            <a:r>
              <a:rPr dirty="0" err="1"/>
              <a:t>publicó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julio</a:t>
            </a:r>
            <a:r>
              <a:rPr dirty="0"/>
              <a:t> de 2022, </a:t>
            </a:r>
            <a:r>
              <a:rPr dirty="0" err="1"/>
              <a:t>tras</a:t>
            </a:r>
            <a:r>
              <a:rPr dirty="0"/>
              <a:t> un </a:t>
            </a:r>
            <a:r>
              <a:rPr dirty="0" err="1"/>
              <a:t>proceso</a:t>
            </a:r>
            <a:r>
              <a:rPr dirty="0"/>
              <a:t> de co-</a:t>
            </a:r>
            <a:r>
              <a:rPr dirty="0" err="1"/>
              <a:t>creación</a:t>
            </a:r>
            <a:r>
              <a:rPr dirty="0"/>
              <a:t> con </a:t>
            </a:r>
            <a:r>
              <a:rPr dirty="0" err="1"/>
              <a:t>más</a:t>
            </a:r>
            <a:r>
              <a:rPr dirty="0"/>
              <a:t> de 350 </a:t>
            </a:r>
            <a:r>
              <a:rPr dirty="0" err="1"/>
              <a:t>organizaciones</a:t>
            </a:r>
            <a:r>
              <a:rPr dirty="0"/>
              <a:t> de 40 </a:t>
            </a:r>
            <a:r>
              <a:rPr dirty="0" err="1"/>
              <a:t>países</a:t>
            </a:r>
            <a:r>
              <a:rPr dirty="0"/>
              <a:t>, </a:t>
            </a:r>
            <a:r>
              <a:rPr dirty="0" err="1"/>
              <a:t>impulsado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Asociación</a:t>
            </a:r>
            <a:r>
              <a:rPr dirty="0"/>
              <a:t> Europea de </a:t>
            </a:r>
            <a:r>
              <a:rPr dirty="0" err="1"/>
              <a:t>Universidades</a:t>
            </a:r>
            <a:r>
              <a:rPr dirty="0"/>
              <a:t>, Science Europe y la Comisión Europea.</a:t>
            </a:r>
          </a:p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lo </a:t>
            </a:r>
            <a:r>
              <a:rPr dirty="0" err="1"/>
              <a:t>diferencia</a:t>
            </a:r>
            <a:r>
              <a:rPr dirty="0"/>
              <a:t> de DORA o de Leiden? </a:t>
            </a:r>
            <a:r>
              <a:rPr dirty="0" err="1"/>
              <a:t>Que</a:t>
            </a:r>
            <a:r>
              <a:rPr dirty="0"/>
              <a:t> no se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declaración</a:t>
            </a:r>
            <a:r>
              <a:rPr dirty="0"/>
              <a:t>. </a:t>
            </a:r>
            <a:r>
              <a:rPr dirty="0" err="1"/>
              <a:t>Quien</a:t>
            </a:r>
            <a:r>
              <a:rPr dirty="0"/>
              <a:t> </a:t>
            </a:r>
            <a:r>
              <a:rPr dirty="0" err="1"/>
              <a:t>firma</a:t>
            </a:r>
            <a:r>
              <a:rPr dirty="0"/>
              <a:t> se </a:t>
            </a:r>
            <a:r>
              <a:rPr dirty="0" err="1"/>
              <a:t>compromete</a:t>
            </a:r>
            <a:r>
              <a:rPr dirty="0"/>
              <a:t> a un plan de </a:t>
            </a:r>
            <a:r>
              <a:rPr dirty="0" err="1"/>
              <a:t>acción</a:t>
            </a:r>
            <a:r>
              <a:rPr dirty="0"/>
              <a:t>, con </a:t>
            </a:r>
            <a:r>
              <a:rPr dirty="0" err="1"/>
              <a:t>plazos</a:t>
            </a:r>
            <a:r>
              <a:rPr dirty="0"/>
              <a:t>, y la </a:t>
            </a:r>
            <a:r>
              <a:rPr dirty="0" err="1"/>
              <a:t>coalición</a:t>
            </a:r>
            <a:r>
              <a:rPr dirty="0"/>
              <a:t> </a:t>
            </a:r>
            <a:r>
              <a:rPr dirty="0" err="1"/>
              <a:t>acompaña</a:t>
            </a:r>
            <a:r>
              <a:rPr dirty="0"/>
              <a:t> el </a:t>
            </a:r>
            <a:r>
              <a:rPr dirty="0" err="1"/>
              <a:t>proceso</a:t>
            </a:r>
            <a:r>
              <a:rPr dirty="0"/>
              <a:t>: </a:t>
            </a:r>
            <a:r>
              <a:rPr dirty="0" err="1"/>
              <a:t>grupos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, </a:t>
            </a:r>
            <a:r>
              <a:rPr dirty="0" err="1"/>
              <a:t>capítulos</a:t>
            </a:r>
            <a:r>
              <a:rPr dirty="0"/>
              <a:t> </a:t>
            </a:r>
            <a:r>
              <a:rPr dirty="0" err="1"/>
              <a:t>nacionales</a:t>
            </a:r>
            <a:r>
              <a:rPr dirty="0"/>
              <a:t>, </a:t>
            </a:r>
            <a:r>
              <a:rPr dirty="0" err="1"/>
              <a:t>intercambio</a:t>
            </a:r>
            <a:r>
              <a:rPr dirty="0"/>
              <a:t> de </a:t>
            </a:r>
            <a:r>
              <a:rPr dirty="0" err="1"/>
              <a:t>experiencias</a:t>
            </a:r>
            <a:r>
              <a:rPr dirty="0"/>
              <a:t>. La </a:t>
            </a:r>
            <a:r>
              <a:rPr dirty="0" err="1"/>
              <a:t>Vicerrectora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presentará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el plan de la UCM.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Los cuatro </a:t>
            </a:r>
            <a:r>
              <a:rPr dirty="0" err="1"/>
              <a:t>compromisos</a:t>
            </a:r>
            <a:r>
              <a:rPr dirty="0"/>
              <a:t> </a:t>
            </a:r>
            <a:r>
              <a:rPr dirty="0" err="1"/>
              <a:t>centrales</a:t>
            </a:r>
            <a:r>
              <a:rPr dirty="0"/>
              <a:t> de </a:t>
            </a:r>
            <a:r>
              <a:rPr dirty="0" err="1"/>
              <a:t>CoARA</a:t>
            </a:r>
            <a:r>
              <a:rPr dirty="0"/>
              <a:t> </a:t>
            </a:r>
            <a:r>
              <a:rPr dirty="0" err="1"/>
              <a:t>recogen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realidad</a:t>
            </a:r>
            <a:r>
              <a:rPr dirty="0"/>
              <a:t>, </a:t>
            </a:r>
            <a:r>
              <a:rPr dirty="0" err="1"/>
              <a:t>todo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hemos</a:t>
            </a:r>
            <a:r>
              <a:rPr dirty="0"/>
              <a:t> visto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mañana</a:t>
            </a:r>
            <a:r>
              <a:rPr dirty="0"/>
              <a:t>.</a:t>
            </a:r>
          </a:p>
          <a:p>
            <a:r>
              <a:rPr dirty="0"/>
              <a:t>El </a:t>
            </a:r>
            <a:r>
              <a:rPr dirty="0" err="1"/>
              <a:t>tercero</a:t>
            </a:r>
            <a:r>
              <a:rPr dirty="0"/>
              <a:t>, </a:t>
            </a:r>
            <a:r>
              <a:rPr dirty="0" err="1"/>
              <a:t>abandonar</a:t>
            </a:r>
            <a:r>
              <a:rPr dirty="0"/>
              <a:t> el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inadecuado</a:t>
            </a:r>
            <a:r>
              <a:rPr dirty="0"/>
              <a:t> de las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revista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particular el factor de </a:t>
            </a:r>
            <a:r>
              <a:rPr dirty="0" err="1"/>
              <a:t>impacto</a:t>
            </a:r>
            <a:r>
              <a:rPr dirty="0"/>
              <a:t> y el </a:t>
            </a:r>
            <a:r>
              <a:rPr dirty="0" err="1"/>
              <a:t>índice</a:t>
            </a:r>
            <a:r>
              <a:rPr dirty="0"/>
              <a:t> h,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indicador</a:t>
            </a:r>
            <a:r>
              <a:rPr dirty="0"/>
              <a:t> </a:t>
            </a:r>
            <a:r>
              <a:rPr dirty="0" err="1"/>
              <a:t>basado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citas</a:t>
            </a:r>
            <a:r>
              <a:rPr dirty="0"/>
              <a:t>, es la </a:t>
            </a:r>
            <a:r>
              <a:rPr dirty="0" err="1"/>
              <a:t>respuesta</a:t>
            </a:r>
            <a:r>
              <a:rPr dirty="0"/>
              <a:t> a la </a:t>
            </a:r>
            <a:r>
              <a:rPr dirty="0" err="1"/>
              <a:t>problemática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comentamos</a:t>
            </a:r>
            <a:r>
              <a:rPr dirty="0"/>
              <a:t> al principio.</a:t>
            </a:r>
          </a:p>
          <a:p>
            <a:r>
              <a:rPr dirty="0"/>
              <a:t>El </a:t>
            </a:r>
            <a:r>
              <a:rPr dirty="0" err="1"/>
              <a:t>segundo</a:t>
            </a:r>
            <a:r>
              <a:rPr dirty="0"/>
              <a:t>,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principalmente</a:t>
            </a:r>
            <a:r>
              <a:rPr dirty="0"/>
              <a:t> con </a:t>
            </a:r>
            <a:r>
              <a:rPr dirty="0" err="1"/>
              <a:t>criterios</a:t>
            </a:r>
            <a:r>
              <a:rPr dirty="0"/>
              <a:t> </a:t>
            </a:r>
            <a:r>
              <a:rPr dirty="0" err="1"/>
              <a:t>cualitativos</a:t>
            </a:r>
            <a:r>
              <a:rPr dirty="0"/>
              <a:t>, con la </a:t>
            </a:r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pares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centro</a:t>
            </a:r>
            <a:r>
              <a:rPr dirty="0"/>
              <a:t>, es la idea de </a:t>
            </a:r>
            <a:r>
              <a:rPr dirty="0" err="1"/>
              <a:t>dejar</a:t>
            </a:r>
            <a:r>
              <a:rPr dirty="0"/>
              <a:t> de </a:t>
            </a:r>
            <a:r>
              <a:rPr dirty="0" err="1"/>
              <a:t>externalizar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revistas</a:t>
            </a:r>
            <a:r>
              <a:rPr dirty="0"/>
              <a:t> y </a:t>
            </a:r>
            <a:r>
              <a:rPr dirty="0" err="1"/>
              <a:t>trasladarlo</a:t>
            </a:r>
            <a:r>
              <a:rPr dirty="0"/>
              <a:t> a las </a:t>
            </a:r>
            <a:r>
              <a:rPr dirty="0" err="1"/>
              <a:t>propias</a:t>
            </a:r>
            <a:r>
              <a:rPr dirty="0"/>
              <a:t> </a:t>
            </a:r>
            <a:r>
              <a:rPr dirty="0" err="1"/>
              <a:t>comisiones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constituidas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expertos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realmente</a:t>
            </a:r>
            <a:r>
              <a:rPr dirty="0"/>
              <a:t> </a:t>
            </a:r>
            <a:r>
              <a:rPr dirty="0" err="1"/>
              <a:t>leen</a:t>
            </a:r>
            <a:r>
              <a:rPr dirty="0"/>
              <a:t> y </a:t>
            </a:r>
            <a:r>
              <a:rPr dirty="0" err="1"/>
              <a:t>revisan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trabajos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evalúan</a:t>
            </a:r>
            <a:r>
              <a:rPr dirty="0"/>
              <a:t>. Una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manera</a:t>
            </a:r>
            <a:r>
              <a:rPr dirty="0"/>
              <a:t> de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 es con el </a:t>
            </a:r>
            <a:r>
              <a:rPr dirty="0" err="1"/>
              <a:t>ejemplo</a:t>
            </a:r>
            <a:r>
              <a:rPr dirty="0"/>
              <a:t> de </a:t>
            </a:r>
            <a:r>
              <a:rPr dirty="0" err="1"/>
              <a:t>Psicológica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revista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publica las </a:t>
            </a:r>
            <a:r>
              <a:rPr dirty="0" err="1"/>
              <a:t>revisiones</a:t>
            </a:r>
            <a:r>
              <a:rPr dirty="0"/>
              <a:t> de sus </a:t>
            </a:r>
            <a:r>
              <a:rPr dirty="0" err="1"/>
              <a:t>expertos</a:t>
            </a:r>
            <a:r>
              <a:rPr dirty="0"/>
              <a:t> </a:t>
            </a:r>
            <a:r>
              <a:rPr dirty="0" err="1"/>
              <a:t>facilitando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posterior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comités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. </a:t>
            </a:r>
          </a:p>
          <a:p>
            <a:r>
              <a:rPr dirty="0"/>
              <a:t>El </a:t>
            </a:r>
            <a:r>
              <a:rPr dirty="0" err="1"/>
              <a:t>cuarto</a:t>
            </a:r>
            <a:r>
              <a:rPr dirty="0"/>
              <a:t>, no usar rankings de </a:t>
            </a:r>
            <a:r>
              <a:rPr dirty="0" err="1"/>
              <a:t>instituciones</a:t>
            </a:r>
            <a:r>
              <a:rPr dirty="0"/>
              <a:t> para </a:t>
            </a:r>
            <a:r>
              <a:rPr dirty="0" err="1"/>
              <a:t>evaluar</a:t>
            </a:r>
            <a:r>
              <a:rPr dirty="0"/>
              <a:t> la </a:t>
            </a:r>
            <a:r>
              <a:rPr dirty="0" err="1"/>
              <a:t>investigación</a:t>
            </a:r>
            <a:r>
              <a:rPr dirty="0"/>
              <a:t>, </a:t>
            </a:r>
            <a:r>
              <a:rPr dirty="0" err="1"/>
              <a:t>apunta</a:t>
            </a:r>
            <a:r>
              <a:rPr dirty="0"/>
              <a:t> a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evaluación</a:t>
            </a:r>
            <a:r>
              <a:rPr dirty="0"/>
              <a:t> actual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para </a:t>
            </a:r>
            <a:r>
              <a:rPr dirty="0" err="1"/>
              <a:t>ponderar</a:t>
            </a:r>
            <a:r>
              <a:rPr dirty="0"/>
              <a:t> </a:t>
            </a:r>
            <a:r>
              <a:rPr dirty="0" err="1"/>
              <a:t>expedientes</a:t>
            </a:r>
            <a:r>
              <a:rPr dirty="0"/>
              <a:t> </a:t>
            </a:r>
            <a:r>
              <a:rPr dirty="0" err="1"/>
              <a:t>académicos</a:t>
            </a:r>
            <a:r>
              <a:rPr dirty="0"/>
              <a:t>, se </a:t>
            </a:r>
            <a:r>
              <a:rPr dirty="0" err="1"/>
              <a:t>usan</a:t>
            </a:r>
            <a:r>
              <a:rPr dirty="0"/>
              <a:t> las </a:t>
            </a:r>
            <a:r>
              <a:rPr dirty="0" err="1"/>
              <a:t>posiciones</a:t>
            </a:r>
            <a:r>
              <a:rPr dirty="0"/>
              <a:t> de </a:t>
            </a:r>
            <a:r>
              <a:rPr dirty="0" err="1"/>
              <a:t>universidades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listados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el de </a:t>
            </a:r>
            <a:r>
              <a:rPr dirty="0" err="1"/>
              <a:t>Shanghái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incluye</a:t>
            </a:r>
            <a:r>
              <a:rPr dirty="0"/>
              <a:t> solo </a:t>
            </a:r>
            <a:r>
              <a:rPr dirty="0" err="1"/>
              <a:t>pocas</a:t>
            </a:r>
            <a:r>
              <a:rPr dirty="0"/>
              <a:t> </a:t>
            </a:r>
            <a:r>
              <a:rPr dirty="0" err="1"/>
              <a:t>universidades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base a </a:t>
            </a:r>
            <a:r>
              <a:rPr dirty="0" err="1"/>
              <a:t>méritos</a:t>
            </a:r>
            <a:r>
              <a:rPr dirty="0"/>
              <a:t> </a:t>
            </a:r>
            <a:r>
              <a:rPr dirty="0" err="1"/>
              <a:t>cuestionables</a:t>
            </a:r>
            <a:r>
              <a:rPr dirty="0"/>
              <a:t>, </a:t>
            </a:r>
            <a:r>
              <a:rPr dirty="0" err="1"/>
              <a:t>dejando</a:t>
            </a:r>
            <a:r>
              <a:rPr dirty="0"/>
              <a:t> fuera </a:t>
            </a:r>
            <a:r>
              <a:rPr dirty="0" err="1"/>
              <a:t>instituciones</a:t>
            </a:r>
            <a:r>
              <a:rPr dirty="0"/>
              <a:t> </a:t>
            </a:r>
            <a:r>
              <a:rPr dirty="0" err="1"/>
              <a:t>prestigiosas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la Carlos III de Madrid </a:t>
            </a:r>
            <a:r>
              <a:rPr dirty="0" err="1"/>
              <a:t>que</a:t>
            </a:r>
            <a:r>
              <a:rPr dirty="0"/>
              <a:t> ha </a:t>
            </a:r>
            <a:r>
              <a:rPr dirty="0" err="1"/>
              <a:t>sido</a:t>
            </a:r>
            <a:r>
              <a:rPr dirty="0"/>
              <a:t> </a:t>
            </a:r>
            <a:r>
              <a:rPr dirty="0" err="1"/>
              <a:t>excluida</a:t>
            </a:r>
            <a:r>
              <a:rPr dirty="0"/>
              <a:t> de la </a:t>
            </a:r>
            <a:r>
              <a:rPr dirty="0" err="1"/>
              <a:t>última</a:t>
            </a:r>
            <a:r>
              <a:rPr dirty="0"/>
              <a:t> </a:t>
            </a:r>
            <a:r>
              <a:rPr dirty="0" err="1"/>
              <a:t>edición</a:t>
            </a:r>
            <a:r>
              <a:rPr dirty="0"/>
              <a:t> del ranking.</a:t>
            </a:r>
          </a:p>
          <a:p>
            <a:r>
              <a:rPr dirty="0"/>
              <a:t>Y el primero, </a:t>
            </a:r>
            <a:r>
              <a:rPr dirty="0" err="1"/>
              <a:t>reconocer</a:t>
            </a:r>
            <a:r>
              <a:rPr dirty="0"/>
              <a:t> la </a:t>
            </a:r>
            <a:r>
              <a:rPr dirty="0" err="1"/>
              <a:t>diversidad</a:t>
            </a:r>
            <a:r>
              <a:rPr dirty="0"/>
              <a:t> de </a:t>
            </a:r>
            <a:r>
              <a:rPr dirty="0" err="1"/>
              <a:t>contribuciones</a:t>
            </a:r>
            <a:r>
              <a:rPr dirty="0"/>
              <a:t> y de </a:t>
            </a:r>
            <a:r>
              <a:rPr dirty="0" err="1"/>
              <a:t>carreras</a:t>
            </a:r>
            <a:r>
              <a:rPr dirty="0"/>
              <a:t>, no solo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artículos</a:t>
            </a:r>
            <a:r>
              <a:rPr dirty="0"/>
              <a:t>, es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aspecto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relaciona</a:t>
            </a:r>
            <a:r>
              <a:rPr dirty="0"/>
              <a:t> también con el </a:t>
            </a:r>
            <a:r>
              <a:rPr dirty="0" err="1"/>
              <a:t>movimiento</a:t>
            </a:r>
            <a:r>
              <a:rPr dirty="0"/>
              <a:t> de la </a:t>
            </a:r>
            <a:r>
              <a:rPr dirty="0" err="1"/>
              <a:t>ciencia</a:t>
            </a:r>
            <a:r>
              <a:rPr dirty="0"/>
              <a:t> </a:t>
            </a:r>
            <a:r>
              <a:rPr dirty="0" err="1"/>
              <a:t>abierta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trata</a:t>
            </a:r>
            <a:r>
              <a:rPr dirty="0"/>
              <a:t> de </a:t>
            </a:r>
            <a:r>
              <a:rPr dirty="0" err="1"/>
              <a:t>dar</a:t>
            </a:r>
            <a:r>
              <a:rPr dirty="0"/>
              <a:t> valor a </a:t>
            </a:r>
            <a:r>
              <a:rPr dirty="0" err="1"/>
              <a:t>aportaciones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sean</a:t>
            </a:r>
            <a:r>
              <a:rPr dirty="0"/>
              <a:t> papers: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diseños</a:t>
            </a:r>
            <a:r>
              <a:rPr dirty="0"/>
              <a:t> y </a:t>
            </a:r>
            <a:r>
              <a:rPr dirty="0" err="1"/>
              <a:t>protocolos</a:t>
            </a:r>
            <a:r>
              <a:rPr dirty="0"/>
              <a:t>, </a:t>
            </a:r>
            <a:r>
              <a:rPr dirty="0" err="1"/>
              <a:t>los</a:t>
            </a:r>
            <a:r>
              <a:rPr dirty="0"/>
              <a:t> datos, el </a:t>
            </a:r>
            <a:r>
              <a:rPr dirty="0" err="1"/>
              <a:t>código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, </a:t>
            </a:r>
            <a:r>
              <a:rPr dirty="0" err="1"/>
              <a:t>libros</a:t>
            </a:r>
            <a:r>
              <a:rPr dirty="0"/>
              <a:t>, </a:t>
            </a:r>
            <a:r>
              <a:rPr dirty="0" err="1"/>
              <a:t>monográficos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edición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exposición</a:t>
            </a:r>
            <a:r>
              <a:rPr dirty="0"/>
              <a:t>. Lo </a:t>
            </a:r>
            <a:r>
              <a:rPr dirty="0" err="1"/>
              <a:t>mismo</a:t>
            </a:r>
            <a:r>
              <a:rPr dirty="0"/>
              <a:t> vale para las </a:t>
            </a:r>
            <a:r>
              <a:rPr dirty="0" err="1"/>
              <a:t>carreras</a:t>
            </a:r>
            <a:r>
              <a:rPr dirty="0"/>
              <a:t>. No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investigadores</a:t>
            </a:r>
            <a:r>
              <a:rPr dirty="0"/>
              <a:t>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ser </a:t>
            </a:r>
            <a:r>
              <a:rPr dirty="0" err="1"/>
              <a:t>iguales</a:t>
            </a:r>
            <a:r>
              <a:rPr dirty="0"/>
              <a:t>: hay </a:t>
            </a:r>
            <a:r>
              <a:rPr dirty="0" err="1"/>
              <a:t>perfiles</a:t>
            </a:r>
            <a:r>
              <a:rPr dirty="0"/>
              <a:t> </a:t>
            </a:r>
            <a:r>
              <a:rPr dirty="0" err="1"/>
              <a:t>interdisciplinares</a:t>
            </a:r>
            <a:r>
              <a:rPr dirty="0"/>
              <a:t>, </a:t>
            </a:r>
            <a:r>
              <a:rPr dirty="0" err="1"/>
              <a:t>técnicos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sostienen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laboratorios</a:t>
            </a:r>
            <a:r>
              <a:rPr dirty="0"/>
              <a:t> y las </a:t>
            </a:r>
            <a:r>
              <a:rPr dirty="0" err="1"/>
              <a:t>infraestructuras</a:t>
            </a:r>
            <a:r>
              <a:rPr dirty="0"/>
              <a:t>, y personas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lideran</a:t>
            </a:r>
            <a:r>
              <a:rPr dirty="0"/>
              <a:t> </a:t>
            </a:r>
            <a:r>
              <a:rPr dirty="0" err="1"/>
              <a:t>equipos</a:t>
            </a:r>
            <a:r>
              <a:rPr dirty="0"/>
              <a:t> o </a:t>
            </a:r>
            <a:r>
              <a:rPr dirty="0" err="1"/>
              <a:t>gestionan</a:t>
            </a:r>
            <a:r>
              <a:rPr dirty="0"/>
              <a:t> </a:t>
            </a:r>
            <a:r>
              <a:rPr dirty="0" err="1"/>
              <a:t>proyectos</a:t>
            </a:r>
            <a:r>
              <a:rPr dirty="0"/>
              <a:t>. </a:t>
            </a:r>
            <a:r>
              <a:rPr dirty="0" err="1"/>
              <a:t>Taxonomías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CRediT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declarar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hizo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funcione</a:t>
            </a:r>
            <a:r>
              <a:rPr dirty="0"/>
              <a:t>, es </a:t>
            </a:r>
            <a:r>
              <a:rPr dirty="0" err="1"/>
              <a:t>necesario</a:t>
            </a:r>
            <a:r>
              <a:rPr dirty="0"/>
              <a:t> </a:t>
            </a:r>
            <a:r>
              <a:rPr dirty="0" err="1"/>
              <a:t>formar</a:t>
            </a:r>
            <a:r>
              <a:rPr dirty="0"/>
              <a:t> y </a:t>
            </a:r>
            <a:r>
              <a:rPr dirty="0" err="1"/>
              <a:t>concienciar</a:t>
            </a:r>
            <a:r>
              <a:rPr dirty="0"/>
              <a:t> a la comunidad </a:t>
            </a:r>
            <a:r>
              <a:rPr dirty="0" err="1"/>
              <a:t>investigadora</a:t>
            </a:r>
            <a:r>
              <a:rPr dirty="0"/>
              <a:t>. Los </a:t>
            </a:r>
            <a:r>
              <a:rPr dirty="0" err="1"/>
              <a:t>nuevos</a:t>
            </a:r>
            <a:r>
              <a:rPr dirty="0"/>
              <a:t> </a:t>
            </a:r>
            <a:r>
              <a:rPr dirty="0" err="1"/>
              <a:t>criterios</a:t>
            </a:r>
            <a:r>
              <a:rPr dirty="0"/>
              <a:t> solo </a:t>
            </a:r>
            <a:r>
              <a:rPr dirty="0" err="1"/>
              <a:t>funcionan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sabemos</a:t>
            </a:r>
            <a:r>
              <a:rPr dirty="0"/>
              <a:t> </a:t>
            </a:r>
            <a:r>
              <a:rPr dirty="0" err="1"/>
              <a:t>aplicarlos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 es </a:t>
            </a:r>
            <a:r>
              <a:rPr dirty="0" err="1"/>
              <a:t>importante</a:t>
            </a:r>
            <a:r>
              <a:rPr dirty="0"/>
              <a:t> la </a:t>
            </a:r>
            <a:r>
              <a:rPr dirty="0" err="1"/>
              <a:t>formación</a:t>
            </a:r>
            <a:r>
              <a:rPr dirty="0"/>
              <a:t> y la </a:t>
            </a:r>
            <a:r>
              <a:rPr dirty="0" err="1"/>
              <a:t>difusión</a:t>
            </a:r>
            <a:r>
              <a:rPr dirty="0"/>
              <a:t> de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, y el </a:t>
            </a:r>
            <a:r>
              <a:rPr dirty="0" err="1"/>
              <a:t>uso</a:t>
            </a:r>
            <a:r>
              <a:rPr dirty="0"/>
              <a:t> de la </a:t>
            </a:r>
            <a:r>
              <a:rPr dirty="0" err="1"/>
              <a:t>infraestructura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, libre y </a:t>
            </a:r>
            <a:r>
              <a:rPr dirty="0" err="1"/>
              <a:t>abierta</a:t>
            </a:r>
            <a:r>
              <a:rPr dirty="0"/>
              <a:t>: Docta, Portal de </a:t>
            </a:r>
            <a:r>
              <a:rPr dirty="0" err="1"/>
              <a:t>Investigación</a:t>
            </a:r>
            <a:r>
              <a:rPr dirty="0"/>
              <a:t>, </a:t>
            </a:r>
            <a:r>
              <a:rPr dirty="0" err="1"/>
              <a:t>biblioguía</a:t>
            </a:r>
            <a:r>
              <a:rPr dirty="0"/>
              <a:t>, </a:t>
            </a:r>
            <a:r>
              <a:rPr dirty="0" err="1"/>
              <a:t>servicios</a:t>
            </a:r>
            <a:r>
              <a:rPr dirty="0"/>
              <a:t> de la </a:t>
            </a:r>
            <a:r>
              <a:rPr dirty="0" err="1"/>
              <a:t>biblioteca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EC5A16FE-AC51-B591-4776-ACE7E350B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9982" y="1155404"/>
            <a:ext cx="6613451" cy="3191098"/>
          </a:xfrm>
          <a:prstGeom prst="rect">
            <a:avLst/>
          </a:prstGeom>
        </p:spPr>
        <p:txBody>
          <a:bodyPr anchor="b"/>
          <a:lstStyle>
            <a:lvl1pPr algn="l">
              <a:defRPr sz="54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HAGA CLIC PARA AGREGAR TÍTULO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8D45D799-B702-6F4D-36C8-F34FB5F01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981" y="4394309"/>
            <a:ext cx="8293396" cy="12551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200">
                <a:latin typeface="+mn-lt"/>
              </a:defRPr>
            </a:lvl4pPr>
            <a:lvl5pPr marL="1828800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s-ES" dirty="0"/>
              <a:t>Haga clic agregar subtítulo</a:t>
            </a:r>
          </a:p>
        </p:txBody>
      </p:sp>
      <p:pic>
        <p:nvPicPr>
          <p:cNvPr id="2" name="Imagen 1" descr="Logotipo">
            <a:extLst>
              <a:ext uri="{FF2B5EF4-FFF2-40B4-BE49-F238E27FC236}">
                <a16:creationId xmlns:a16="http://schemas.microsoft.com/office/drawing/2014/main" id="{352AF3F0-105D-D161-95CB-E8063E34CC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271" y="521776"/>
            <a:ext cx="1886400" cy="147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5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cio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94502-183C-1B82-857B-6A50A7F40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930" y="531629"/>
            <a:ext cx="11331966" cy="1495475"/>
          </a:xfrm>
          <a:prstGeom prst="rect">
            <a:avLst/>
          </a:prstGeom>
        </p:spPr>
        <p:txBody>
          <a:bodyPr anchor="t" anchorCtr="0"/>
          <a:lstStyle>
            <a:lvl1pPr>
              <a:defRPr sz="4400" b="1">
                <a:solidFill>
                  <a:srgbClr val="B0113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INSTRUCCIONES</a:t>
            </a:r>
            <a:br>
              <a:rPr lang="es-ES" dirty="0"/>
            </a:br>
            <a:r>
              <a:rPr lang="es-ES" dirty="0"/>
              <a:t>¡No olvides borrar esta diapositiva!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04F2A8-6FC5-FC3D-3417-50C2E957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930" y="2115239"/>
            <a:ext cx="11325561" cy="4211132"/>
          </a:xfrm>
          <a:custGeom>
            <a:avLst/>
            <a:gdLst>
              <a:gd name="connsiteX0" fmla="*/ 0 w 5784113"/>
              <a:gd name="connsiteY0" fmla="*/ 0 h 4749208"/>
              <a:gd name="connsiteX1" fmla="*/ 5784113 w 5784113"/>
              <a:gd name="connsiteY1" fmla="*/ 0 h 4749208"/>
              <a:gd name="connsiteX2" fmla="*/ 5784113 w 5784113"/>
              <a:gd name="connsiteY2" fmla="*/ 4749208 h 4749208"/>
              <a:gd name="connsiteX3" fmla="*/ 0 w 5784113"/>
              <a:gd name="connsiteY3" fmla="*/ 4749208 h 4749208"/>
              <a:gd name="connsiteX4" fmla="*/ 0 w 5784113"/>
              <a:gd name="connsiteY4" fmla="*/ 0 h 4749208"/>
              <a:gd name="connsiteX0" fmla="*/ 0 w 5784113"/>
              <a:gd name="connsiteY0" fmla="*/ 567070 h 5316278"/>
              <a:gd name="connsiteX1" fmla="*/ 5769936 w 5784113"/>
              <a:gd name="connsiteY1" fmla="*/ 0 h 5316278"/>
              <a:gd name="connsiteX2" fmla="*/ 5784113 w 5784113"/>
              <a:gd name="connsiteY2" fmla="*/ 5316278 h 5316278"/>
              <a:gd name="connsiteX3" fmla="*/ 0 w 5784113"/>
              <a:gd name="connsiteY3" fmla="*/ 5316278 h 5316278"/>
              <a:gd name="connsiteX4" fmla="*/ 0 w 5784113"/>
              <a:gd name="connsiteY4" fmla="*/ 567070 h 5316278"/>
              <a:gd name="connsiteX0" fmla="*/ 0 w 5784113"/>
              <a:gd name="connsiteY0" fmla="*/ 14637 h 4763845"/>
              <a:gd name="connsiteX1" fmla="*/ 5769936 w 5784113"/>
              <a:gd name="connsiteY1" fmla="*/ 0 h 4763845"/>
              <a:gd name="connsiteX2" fmla="*/ 5784113 w 5784113"/>
              <a:gd name="connsiteY2" fmla="*/ 4763845 h 4763845"/>
              <a:gd name="connsiteX3" fmla="*/ 0 w 5784113"/>
              <a:gd name="connsiteY3" fmla="*/ 4763845 h 4763845"/>
              <a:gd name="connsiteX4" fmla="*/ 0 w 5784113"/>
              <a:gd name="connsiteY4" fmla="*/ 14637 h 4763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4113" h="4763845">
                <a:moveTo>
                  <a:pt x="0" y="14637"/>
                </a:moveTo>
                <a:lnTo>
                  <a:pt x="5769936" y="0"/>
                </a:lnTo>
                <a:cubicBezTo>
                  <a:pt x="5774662" y="1772093"/>
                  <a:pt x="5779387" y="2991752"/>
                  <a:pt x="5784113" y="4763845"/>
                </a:cubicBezTo>
                <a:lnTo>
                  <a:pt x="0" y="4763845"/>
                </a:lnTo>
                <a:lnTo>
                  <a:pt x="0" y="146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5" name="Imagen 4" descr="Logotipo">
            <a:extLst>
              <a:ext uri="{FF2B5EF4-FFF2-40B4-BE49-F238E27FC236}">
                <a16:creationId xmlns:a16="http://schemas.microsoft.com/office/drawing/2014/main" id="{B61183AA-E5D5-141C-9C6C-4182750F80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29" y="521776"/>
            <a:ext cx="1886400" cy="1473471"/>
          </a:xfrm>
          <a:prstGeom prst="rect">
            <a:avLst/>
          </a:prstGeom>
        </p:spPr>
      </p:pic>
      <p:pic>
        <p:nvPicPr>
          <p:cNvPr id="6" name="Imagen 5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895A3F35-1323-CDAF-A87B-B5F376CEEE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82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FDC97-84BD-46AE-4801-11AC06758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7460" y="1505134"/>
            <a:ext cx="7733414" cy="2387600"/>
          </a:xfrm>
          <a:prstGeom prst="rect">
            <a:avLst/>
          </a:prstGeom>
        </p:spPr>
        <p:txBody>
          <a:bodyPr anchor="b"/>
          <a:lstStyle>
            <a:lvl1pPr algn="r">
              <a:defRPr sz="6000" b="1" i="0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13D8C8-A392-1F26-BF71-9D0D003BD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6874" y="3984809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5" name="Imagen 4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BD6CDFEE-0823-919F-0683-D2B553D674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19586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7E205-0783-F536-C31B-529C2D38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506" y="1173199"/>
            <a:ext cx="8215423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52D2D-2369-AD35-5D43-B213BB2F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74" y="2633699"/>
            <a:ext cx="9597655" cy="3299268"/>
          </a:xfrm>
          <a:prstGeom prst="rect">
            <a:avLst/>
          </a:prstGeom>
          <a:effectLst>
            <a:softEdge rad="0"/>
          </a:effectLst>
        </p:spPr>
        <p:txBody>
          <a:bodyPr/>
          <a:lstStyle>
            <a:lvl1pPr marL="228600" indent="-228600">
              <a:buClr>
                <a:srgbClr val="B01131"/>
              </a:buClr>
              <a:buSzPct val="90000"/>
              <a:buFont typeface="Calibri" panose="020F0502020204030204" pitchFamily="34" charset="0"/>
              <a:buChar char="●"/>
              <a:defRPr sz="2400"/>
            </a:lvl1pPr>
            <a:lvl2pPr marL="685800" indent="-228600">
              <a:buClr>
                <a:srgbClr val="B01131"/>
              </a:buClr>
              <a:buSzPct val="90000"/>
              <a:buFont typeface="Calibri" panose="020F0502020204030204" pitchFamily="34" charset="0"/>
              <a:buChar char="●"/>
              <a:defRPr sz="2000"/>
            </a:lvl2pPr>
            <a:lvl3pPr marL="1143000" indent="-228600">
              <a:buClr>
                <a:srgbClr val="B01131"/>
              </a:buClr>
              <a:buSzPct val="90000"/>
              <a:buFont typeface="Calibri" panose="020F0502020204030204" pitchFamily="34" charset="0"/>
              <a:buChar char="●"/>
              <a:defRPr sz="1800"/>
            </a:lvl3pPr>
            <a:lvl4pPr marL="1600200" indent="-228600">
              <a:buClr>
                <a:srgbClr val="B01131"/>
              </a:buClr>
              <a:buSzPct val="90000"/>
              <a:buFont typeface="Calibri" panose="020F0502020204030204" pitchFamily="34" charset="0"/>
              <a:buChar char="●"/>
              <a:defRPr sz="1600"/>
            </a:lvl4pPr>
            <a:lvl5pPr marL="2057400" indent="-228600">
              <a:buClr>
                <a:srgbClr val="B01131"/>
              </a:buClr>
              <a:buSzPct val="90000"/>
              <a:buFont typeface="Calibri" panose="020F0502020204030204" pitchFamily="34" charset="0"/>
              <a:buChar char="●"/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pic>
        <p:nvPicPr>
          <p:cNvPr id="5" name="Imagen 4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99F27AF-1359-DD59-9A0C-1CAACA4A9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38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94502-183C-1B82-857B-6A50A7F40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0" y="531629"/>
            <a:ext cx="3952802" cy="5296294"/>
          </a:xfrm>
          <a:prstGeom prst="rect">
            <a:avLst/>
          </a:prstGeom>
        </p:spPr>
        <p:txBody>
          <a:bodyPr anchor="t" anchorCtr="0"/>
          <a:lstStyle>
            <a:lvl1pPr>
              <a:defRPr sz="48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04F2A8-6FC5-FC3D-3417-50C2E957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0940" y="991519"/>
            <a:ext cx="6018028" cy="4836404"/>
          </a:xfrm>
          <a:custGeom>
            <a:avLst/>
            <a:gdLst>
              <a:gd name="connsiteX0" fmla="*/ 0 w 5784113"/>
              <a:gd name="connsiteY0" fmla="*/ 0 h 4749208"/>
              <a:gd name="connsiteX1" fmla="*/ 5784113 w 5784113"/>
              <a:gd name="connsiteY1" fmla="*/ 0 h 4749208"/>
              <a:gd name="connsiteX2" fmla="*/ 5784113 w 5784113"/>
              <a:gd name="connsiteY2" fmla="*/ 4749208 h 4749208"/>
              <a:gd name="connsiteX3" fmla="*/ 0 w 5784113"/>
              <a:gd name="connsiteY3" fmla="*/ 4749208 h 4749208"/>
              <a:gd name="connsiteX4" fmla="*/ 0 w 5784113"/>
              <a:gd name="connsiteY4" fmla="*/ 0 h 4749208"/>
              <a:gd name="connsiteX0" fmla="*/ 0 w 5784113"/>
              <a:gd name="connsiteY0" fmla="*/ 567070 h 5316278"/>
              <a:gd name="connsiteX1" fmla="*/ 5769936 w 5784113"/>
              <a:gd name="connsiteY1" fmla="*/ 0 h 5316278"/>
              <a:gd name="connsiteX2" fmla="*/ 5784113 w 5784113"/>
              <a:gd name="connsiteY2" fmla="*/ 5316278 h 5316278"/>
              <a:gd name="connsiteX3" fmla="*/ 0 w 5784113"/>
              <a:gd name="connsiteY3" fmla="*/ 5316278 h 5316278"/>
              <a:gd name="connsiteX4" fmla="*/ 0 w 5784113"/>
              <a:gd name="connsiteY4" fmla="*/ 567070 h 5316278"/>
              <a:gd name="connsiteX0" fmla="*/ 0 w 5784113"/>
              <a:gd name="connsiteY0" fmla="*/ 14637 h 4763845"/>
              <a:gd name="connsiteX1" fmla="*/ 5769936 w 5784113"/>
              <a:gd name="connsiteY1" fmla="*/ 0 h 4763845"/>
              <a:gd name="connsiteX2" fmla="*/ 5784113 w 5784113"/>
              <a:gd name="connsiteY2" fmla="*/ 4763845 h 4763845"/>
              <a:gd name="connsiteX3" fmla="*/ 0 w 5784113"/>
              <a:gd name="connsiteY3" fmla="*/ 4763845 h 4763845"/>
              <a:gd name="connsiteX4" fmla="*/ 0 w 5784113"/>
              <a:gd name="connsiteY4" fmla="*/ 14637 h 4763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4113" h="4763845">
                <a:moveTo>
                  <a:pt x="0" y="14637"/>
                </a:moveTo>
                <a:lnTo>
                  <a:pt x="5769936" y="0"/>
                </a:lnTo>
                <a:cubicBezTo>
                  <a:pt x="5774662" y="1772093"/>
                  <a:pt x="5779387" y="2991752"/>
                  <a:pt x="5784113" y="4763845"/>
                </a:cubicBezTo>
                <a:lnTo>
                  <a:pt x="0" y="4763845"/>
                </a:lnTo>
                <a:lnTo>
                  <a:pt x="0" y="146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5" name="Imagen 4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0AB4DCF1-2417-4AB9-5245-7C14B218CF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62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494B18-B44D-7610-0D91-A8C4943AF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1577" y="620287"/>
            <a:ext cx="5183188" cy="152326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DFDB67-165F-01B1-D18E-DE9256E24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1577" y="2143548"/>
            <a:ext cx="5183188" cy="3690182"/>
          </a:xfrm>
          <a:prstGeom prst="rect">
            <a:avLst/>
          </a:prstGeom>
        </p:spPr>
        <p:txBody>
          <a:bodyPr/>
          <a:lstStyle>
            <a:lvl1pPr marL="185738" indent="-185738">
              <a:buFont typeface="Arial" panose="020B0604020202020204" pitchFamily="34" charset="0"/>
              <a:buChar char="•"/>
              <a:tabLst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AB19D77-F76D-7B81-7F72-87FC0FFC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0" y="531629"/>
            <a:ext cx="3952802" cy="4749208"/>
          </a:xfrm>
          <a:prstGeom prst="rect">
            <a:avLst/>
          </a:prstGeom>
        </p:spPr>
        <p:txBody>
          <a:bodyPr anchor="t" anchorCtr="0"/>
          <a:lstStyle>
            <a:lvl1pPr>
              <a:defRPr sz="48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pic>
        <p:nvPicPr>
          <p:cNvPr id="3" name="Imagen 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C1DF3BD2-796E-D1F9-EC64-7E69ACAADC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36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64A28BA-62D0-426F-4EA4-D2077D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29" y="531629"/>
            <a:ext cx="4181203" cy="4749208"/>
          </a:xfrm>
          <a:prstGeom prst="rect">
            <a:avLst/>
          </a:prstGeom>
        </p:spPr>
        <p:txBody>
          <a:bodyPr anchor="t" anchorCtr="0"/>
          <a:lstStyle>
            <a:lvl1pPr>
              <a:defRPr sz="4800" b="1">
                <a:solidFill>
                  <a:srgbClr val="B0113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9BA7853C-A196-E97B-5CB7-AFB1F595B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4474" y="1360967"/>
            <a:ext cx="4657062" cy="78258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contenido 5">
            <a:extLst>
              <a:ext uri="{FF2B5EF4-FFF2-40B4-BE49-F238E27FC236}">
                <a16:creationId xmlns:a16="http://schemas.microsoft.com/office/drawing/2014/main" id="{C9B1DF31-6FC6-2D38-D632-BE81BC548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4474" y="2289544"/>
            <a:ext cx="4657062" cy="33528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3" name="Imagen 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CB998B9-8298-8B25-5B4E-8804AC4A2A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3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74CC9-D05D-87B1-6DCC-6922485D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782" y="659219"/>
            <a:ext cx="10448260" cy="1662770"/>
          </a:xfrm>
          <a:prstGeom prst="rect">
            <a:avLst/>
          </a:prstGeom>
        </p:spPr>
        <p:txBody>
          <a:bodyPr anchor="t" anchorCtr="0"/>
          <a:lstStyle>
            <a:lvl1pPr>
              <a:defRPr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602C0A-A54E-1BA8-D34E-25E8F4A6A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4782" y="2442748"/>
            <a:ext cx="5025655" cy="3376806"/>
          </a:xfrm>
          <a:prstGeom prst="rect">
            <a:avLst/>
          </a:prstGeom>
          <a:noFill/>
          <a:ln>
            <a:noFill/>
          </a:ln>
        </p:spPr>
        <p:txBody>
          <a:bodyPr lIns="180000" tIns="144000" rIns="180000" bIns="180000"/>
          <a:lstStyle>
            <a:lvl1pPr marL="2286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D25CDF-1A36-688C-7EAA-18F2546E8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386" y="2442748"/>
            <a:ext cx="5025656" cy="3376806"/>
          </a:xfrm>
          <a:prstGeom prst="rect">
            <a:avLst/>
          </a:prstGeom>
          <a:noFill/>
          <a:ln w="6350" cap="rnd">
            <a:noFill/>
          </a:ln>
          <a:effectLst>
            <a:softEdge rad="0"/>
          </a:effectLst>
        </p:spPr>
        <p:txBody>
          <a:bodyPr lIns="180000" tIns="144000" rIns="180000" bIns="180000"/>
          <a:lstStyle>
            <a:lvl1pPr marL="2286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400"/>
            </a:lvl1pPr>
            <a:lvl2pPr marL="6858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000"/>
            </a:lvl2pPr>
            <a:lvl3pPr marL="11430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800"/>
            </a:lvl3pPr>
            <a:lvl4pPr marL="16002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/>
            </a:lvl4pPr>
            <a:lvl5pPr marL="20574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pic>
        <p:nvPicPr>
          <p:cNvPr id="6" name="Imagen 5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23EA927A-4B59-0699-DDD1-EF78720C8F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3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74CC9-D05D-87B1-6DCC-6922485D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784" y="446568"/>
            <a:ext cx="10490788" cy="1662770"/>
          </a:xfrm>
          <a:prstGeom prst="rect">
            <a:avLst/>
          </a:prstGeom>
        </p:spPr>
        <p:txBody>
          <a:bodyPr anchor="t" anchorCtr="0"/>
          <a:lstStyle>
            <a:lvl1pPr>
              <a:defRPr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602C0A-A54E-1BA8-D34E-25E8F4A6A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4783" y="2183219"/>
            <a:ext cx="3324446" cy="3636335"/>
          </a:xfrm>
          <a:prstGeom prst="rect">
            <a:avLst/>
          </a:prstGeom>
          <a:noFill/>
          <a:ln>
            <a:noFill/>
          </a:ln>
        </p:spPr>
        <p:txBody>
          <a:bodyPr lIns="180000" tIns="144000" rIns="180000" bIns="180000"/>
          <a:lstStyle>
            <a:lvl1pPr marL="228600" indent="-228600">
              <a:buClr>
                <a:schemeClr val="bg1"/>
              </a:buClr>
              <a:buSzPct val="90000"/>
              <a:buFont typeface="Calibri" panose="020F0502020204030204" pitchFamily="34" charset="0"/>
              <a:buChar char="○"/>
              <a:defRPr sz="2400">
                <a:solidFill>
                  <a:schemeClr val="bg1"/>
                </a:solidFill>
              </a:defRPr>
            </a:lvl1pPr>
            <a:lvl2pPr marL="685800" indent="-228600">
              <a:buClr>
                <a:schemeClr val="bg1"/>
              </a:buClr>
              <a:buSzPct val="90000"/>
              <a:buFont typeface="Calibri" panose="020F0502020204030204" pitchFamily="34" charset="0"/>
              <a:buChar char="○"/>
              <a:defRPr sz="2000">
                <a:solidFill>
                  <a:schemeClr val="bg1"/>
                </a:solidFill>
              </a:defRPr>
            </a:lvl2pPr>
            <a:lvl3pPr marL="1143000" indent="-228600">
              <a:buClr>
                <a:schemeClr val="bg1"/>
              </a:buClr>
              <a:buSzPct val="90000"/>
              <a:buFont typeface="Calibri" panose="020F0502020204030204" pitchFamily="34" charset="0"/>
              <a:buChar char="○"/>
              <a:defRPr sz="1800">
                <a:solidFill>
                  <a:schemeClr val="bg1"/>
                </a:solidFill>
              </a:defRPr>
            </a:lvl3pPr>
            <a:lvl4pPr marL="1600200" indent="-228600">
              <a:buClr>
                <a:schemeClr val="bg1"/>
              </a:buClr>
              <a:buSzPct val="90000"/>
              <a:buFont typeface="Calibri" panose="020F0502020204030204" pitchFamily="34" charset="0"/>
              <a:buChar char="○"/>
              <a:defRPr sz="1600">
                <a:solidFill>
                  <a:schemeClr val="bg1"/>
                </a:solidFill>
              </a:defRPr>
            </a:lvl4pPr>
            <a:lvl5pPr marL="2057400" indent="-228600">
              <a:buClr>
                <a:schemeClr val="bg1"/>
              </a:buClr>
              <a:buSzPct val="90000"/>
              <a:buFont typeface="Calibri" panose="020F0502020204030204" pitchFamily="34" charset="0"/>
              <a:buChar char="○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D25CDF-1A36-688C-7EAA-18F2546E8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1124" y="2183219"/>
            <a:ext cx="3324447" cy="3636335"/>
          </a:xfrm>
          <a:prstGeom prst="rect">
            <a:avLst/>
          </a:prstGeom>
          <a:noFill/>
          <a:ln w="6350" cap="rnd">
            <a:noFill/>
          </a:ln>
          <a:effectLst>
            <a:softEdge rad="0"/>
          </a:effectLst>
        </p:spPr>
        <p:txBody>
          <a:bodyPr lIns="180000" tIns="144000" rIns="180000" bIns="180000"/>
          <a:lstStyle>
            <a:lvl1pPr marL="2286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400"/>
            </a:lvl1pPr>
            <a:lvl2pPr marL="6858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000"/>
            </a:lvl2pPr>
            <a:lvl3pPr marL="11430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800"/>
            </a:lvl3pPr>
            <a:lvl4pPr marL="16002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/>
            </a:lvl4pPr>
            <a:lvl5pPr marL="20574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15904F0A-65FB-B93D-58EF-2836F4FC544D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444411" y="2183219"/>
            <a:ext cx="3324446" cy="3636335"/>
          </a:xfrm>
          <a:prstGeom prst="rect">
            <a:avLst/>
          </a:prstGeom>
          <a:noFill/>
          <a:ln>
            <a:noFill/>
          </a:ln>
        </p:spPr>
        <p:txBody>
          <a:bodyPr lIns="180000" tIns="144000" rIns="180000" bIns="180000"/>
          <a:lstStyle>
            <a:lvl1pPr marL="2286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rgbClr val="C00000"/>
              </a:buClr>
              <a:buSzPct val="90000"/>
              <a:buFont typeface="Calibri" panose="020F0502020204030204" pitchFamily="34" charset="0"/>
              <a:buChar char="○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pic>
        <p:nvPicPr>
          <p:cNvPr id="7" name="Imagen 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60C80364-127C-93C0-DE86-A45CA31EA5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0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502FB-AB78-2063-84BD-63D06098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728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4C4AF2-3CE9-AE30-965B-B59E8E0E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84509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405E1A-5F50-23B3-C376-8A3ACCDCD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6957"/>
            <a:ext cx="5157787" cy="2719075"/>
          </a:xfrm>
          <a:prstGeom prst="rect">
            <a:avLst/>
          </a:prstGeom>
        </p:spPr>
        <p:txBody>
          <a:bodyPr/>
          <a:lstStyle>
            <a:lvl1pPr marL="185738" indent="-185738">
              <a:buClr>
                <a:srgbClr val="B01131"/>
              </a:buClr>
              <a:buSzPct val="90000"/>
              <a:tabLst/>
              <a:defRPr sz="2000"/>
            </a:lvl1pPr>
            <a:lvl2pPr marL="623888" indent="-166688">
              <a:buClr>
                <a:srgbClr val="B01131"/>
              </a:buClr>
              <a:buSzPct val="90000"/>
              <a:tabLst/>
              <a:defRPr sz="1800"/>
            </a:lvl2pPr>
            <a:lvl3pPr marL="1071563" indent="-157163">
              <a:buClr>
                <a:srgbClr val="B01131"/>
              </a:buClr>
              <a:buSzPct val="90000"/>
              <a:tabLst/>
              <a:defRPr sz="1600"/>
            </a:lvl3pPr>
            <a:lvl4pPr marL="1520825" indent="-149225">
              <a:buClr>
                <a:srgbClr val="B01131"/>
              </a:buClr>
              <a:buSzPct val="90000"/>
              <a:tabLst/>
              <a:defRPr sz="1400"/>
            </a:lvl4pPr>
            <a:lvl5pPr marL="2003425" indent="-174625">
              <a:buClr>
                <a:srgbClr val="B01131"/>
              </a:buClr>
              <a:buSzPct val="90000"/>
              <a:tabLst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494B18-B44D-7610-0D91-A8C4943AF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84509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161AB65E-5D6D-0939-41C0-00EBA429DEB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3126957"/>
            <a:ext cx="5157787" cy="2719075"/>
          </a:xfrm>
          <a:prstGeom prst="rect">
            <a:avLst/>
          </a:prstGeom>
        </p:spPr>
        <p:txBody>
          <a:bodyPr/>
          <a:lstStyle>
            <a:lvl1pPr marL="185738" indent="-185738">
              <a:buClr>
                <a:srgbClr val="B01131"/>
              </a:buClr>
              <a:buSzPct val="90000"/>
              <a:tabLst/>
              <a:defRPr sz="2000"/>
            </a:lvl1pPr>
            <a:lvl2pPr marL="623888" indent="-166688">
              <a:buClr>
                <a:srgbClr val="B01131"/>
              </a:buClr>
              <a:buSzPct val="90000"/>
              <a:tabLst/>
              <a:defRPr sz="1800"/>
            </a:lvl2pPr>
            <a:lvl3pPr marL="1071563" indent="-157163">
              <a:buClr>
                <a:srgbClr val="B01131"/>
              </a:buClr>
              <a:buSzPct val="90000"/>
              <a:tabLst/>
              <a:defRPr sz="1600"/>
            </a:lvl3pPr>
            <a:lvl4pPr marL="1520825" indent="-149225">
              <a:buClr>
                <a:srgbClr val="B01131"/>
              </a:buClr>
              <a:buSzPct val="90000"/>
              <a:tabLst/>
              <a:defRPr sz="1400"/>
            </a:lvl4pPr>
            <a:lvl5pPr marL="2003425" indent="-174625">
              <a:buClr>
                <a:srgbClr val="B01131"/>
              </a:buClr>
              <a:buSzPct val="90000"/>
              <a:tabLst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89BD22D-EEC1-D9F0-D170-84B6E81205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4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contenido 16">
            <a:extLst>
              <a:ext uri="{FF2B5EF4-FFF2-40B4-BE49-F238E27FC236}">
                <a16:creationId xmlns:a16="http://schemas.microsoft.com/office/drawing/2014/main" id="{E7AED4A3-2D71-734D-CD53-E8E831879F5D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1233888" y="586324"/>
            <a:ext cx="9860097" cy="5418137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Imagen 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360E89FD-0BDB-2BB9-8FA3-62BC460FC6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09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D58939-BC4F-2390-095B-FF161CBC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180" y="1447956"/>
            <a:ext cx="4536560" cy="4288465"/>
          </a:xfrm>
          <a:prstGeom prst="rect">
            <a:avLst/>
          </a:prstGeom>
        </p:spPr>
        <p:txBody>
          <a:bodyPr lIns="0"/>
          <a:lstStyle>
            <a:lvl1pPr marL="228600" indent="-228600">
              <a:buFont typeface="Calibri" panose="020F0502020204030204" pitchFamily="34" charset="0"/>
              <a:buChar char="▫"/>
              <a:defRPr sz="2800">
                <a:solidFill>
                  <a:schemeClr val="bg1"/>
                </a:solidFill>
              </a:defRPr>
            </a:lvl1pPr>
            <a:lvl2pPr marL="685800" indent="-228600">
              <a:buFont typeface="Calibri" panose="020F0502020204030204" pitchFamily="34" charset="0"/>
              <a:buChar char="▫"/>
              <a:defRPr sz="2400">
                <a:solidFill>
                  <a:schemeClr val="bg1"/>
                </a:solidFill>
              </a:defRPr>
            </a:lvl2pPr>
            <a:lvl3pPr marL="1143000" indent="-228600">
              <a:buFont typeface="Calibri" panose="020F0502020204030204" pitchFamily="34" charset="0"/>
              <a:buChar char="▫"/>
              <a:defRPr sz="2000">
                <a:solidFill>
                  <a:schemeClr val="bg1"/>
                </a:solidFill>
              </a:defRPr>
            </a:lvl3pPr>
            <a:lvl4pPr marL="1600200" indent="-228600">
              <a:buFont typeface="Calibri" panose="020F0502020204030204" pitchFamily="34" charset="0"/>
              <a:buChar char="▫"/>
              <a:defRPr sz="1800">
                <a:solidFill>
                  <a:schemeClr val="bg1"/>
                </a:solidFill>
              </a:defRPr>
            </a:lvl4pPr>
            <a:lvl5pPr marL="2057400" indent="-228600">
              <a:buFont typeface="Calibri" panose="020F0502020204030204" pitchFamily="34" charset="0"/>
              <a:buChar char="▫"/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84F2FE7-68DB-3ACC-245C-60695A23A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20" y="724467"/>
            <a:ext cx="3932237" cy="1820430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6EF0CE60-529C-24C5-77C0-F4713995D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3220" y="2650757"/>
            <a:ext cx="3932237" cy="31517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Imagen 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A326F4CA-5C64-C254-9D93-DA46D019AA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12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7B6DF68A-6238-CA8E-04A5-2AB9C5780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180" y="1447956"/>
            <a:ext cx="4536560" cy="4288465"/>
          </a:xfrm>
          <a:prstGeom prst="rect">
            <a:avLst/>
          </a:prstGeom>
        </p:spPr>
        <p:txBody>
          <a:bodyPr lIns="0"/>
          <a:lstStyle>
            <a:lvl1pPr marL="228600" indent="-228600">
              <a:buFont typeface="Calibri" panose="020F0502020204030204" pitchFamily="34" charset="0"/>
              <a:buChar char="▫"/>
              <a:defRPr sz="2800">
                <a:solidFill>
                  <a:schemeClr val="tx1"/>
                </a:solidFill>
              </a:defRPr>
            </a:lvl1pPr>
            <a:lvl2pPr marL="685800" indent="-228600">
              <a:buFont typeface="Calibri" panose="020F0502020204030204" pitchFamily="34" charset="0"/>
              <a:buChar char="▫"/>
              <a:defRPr sz="2400">
                <a:solidFill>
                  <a:schemeClr val="tx1"/>
                </a:solidFill>
              </a:defRPr>
            </a:lvl2pPr>
            <a:lvl3pPr marL="1143000" indent="-228600">
              <a:buFont typeface="Calibri" panose="020F0502020204030204" pitchFamily="34" charset="0"/>
              <a:buChar char="▫"/>
              <a:defRPr sz="2000">
                <a:solidFill>
                  <a:schemeClr val="tx1"/>
                </a:solidFill>
              </a:defRPr>
            </a:lvl3pPr>
            <a:lvl4pPr marL="1600200" indent="-228600">
              <a:buFont typeface="Calibri" panose="020F0502020204030204" pitchFamily="34" charset="0"/>
              <a:buChar char="▫"/>
              <a:defRPr sz="1800">
                <a:solidFill>
                  <a:schemeClr val="tx1"/>
                </a:solidFill>
              </a:defRPr>
            </a:lvl4pPr>
            <a:lvl5pPr marL="2057400" indent="-228600">
              <a:buFont typeface="Calibri" panose="020F0502020204030204" pitchFamily="34" charset="0"/>
              <a:buChar char="▫"/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2451290-3FD3-5CDC-B8E7-D975E397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20" y="724467"/>
            <a:ext cx="3932237" cy="1820430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25DD9C28-6687-5113-A033-AFBCFE18D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3220" y="2650757"/>
            <a:ext cx="3932237" cy="31517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Imagen 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78B3CBE3-4893-C94B-2AE2-CA918C7830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32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C5AAA1-BF27-02CD-E88A-F0FF6ACAF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01562" y="1456161"/>
            <a:ext cx="4621620" cy="428026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131"/>
              </a:buClr>
              <a:buSzPct val="80000"/>
              <a:buFont typeface="Wingdings" pitchFamily="2" charset="2"/>
              <a:buChar char="§"/>
              <a:tabLst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473FE54-B881-E309-A1CF-8784FD70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20" y="724467"/>
            <a:ext cx="3932237" cy="1820430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475F5CA0-B87C-88A1-8964-88051F72F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3220" y="2650757"/>
            <a:ext cx="3932237" cy="31517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Imagen 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83608D8B-4176-2BB0-9D3C-EE45040354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15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A33FBFD-AFD7-F5F6-9E6D-8360E4A832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08" y="6144206"/>
            <a:ext cx="1753200" cy="584890"/>
          </a:xfrm>
          <a:prstGeom prst="rect">
            <a:avLst/>
          </a:prstGeom>
        </p:spPr>
      </p:pic>
      <p:pic>
        <p:nvPicPr>
          <p:cNvPr id="4" name="Imagen 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83CF3728-FA74-EA6E-3490-F16138EC02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30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57A7BD8-9D8D-908A-CB15-ED04B453BD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92" y="6144206"/>
            <a:ext cx="1753200" cy="5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38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123F8-2A03-FCAC-B0D7-C11A935A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535" y="2782259"/>
            <a:ext cx="6328144" cy="181177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Haga clic para despedida y agradecimiento</a:t>
            </a:r>
          </a:p>
        </p:txBody>
      </p:sp>
      <p:pic>
        <p:nvPicPr>
          <p:cNvPr id="4" name="Imagen 3" descr="Logotipo">
            <a:extLst>
              <a:ext uri="{FF2B5EF4-FFF2-40B4-BE49-F238E27FC236}">
                <a16:creationId xmlns:a16="http://schemas.microsoft.com/office/drawing/2014/main" id="{00EA08AB-BCF1-A215-7B2B-0DBA7C8FD1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29" y="521776"/>
            <a:ext cx="1886400" cy="147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8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98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49" r:id="rId3"/>
    <p:sldLayoutId id="2147483650" r:id="rId4"/>
    <p:sldLayoutId id="2147483651" r:id="rId5"/>
    <p:sldLayoutId id="2147483662" r:id="rId6"/>
    <p:sldLayoutId id="2147483654" r:id="rId7"/>
    <p:sldLayoutId id="2147483652" r:id="rId8"/>
    <p:sldLayoutId id="2147483664" r:id="rId9"/>
    <p:sldLayoutId id="2147483653" r:id="rId10"/>
    <p:sldLayoutId id="2147483655" r:id="rId11"/>
    <p:sldLayoutId id="2147483656" r:id="rId12"/>
    <p:sldLayoutId id="2147483657" r:id="rId13"/>
    <p:sldLayoutId id="2147483663" r:id="rId14"/>
    <p:sldLayoutId id="2147483667" r:id="rId15"/>
    <p:sldLayoutId id="2147483668" r:id="rId16"/>
    <p:sldLayoutId id="2147483661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/>
              <a:t>Por qué es necesario reformar la evaluación de la investigación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b="1">
                <a:solidFill>
                  <a:srgbClr val="B01131"/>
                </a:solidFill>
              </a:rPr>
              <a:t>El contexto internacional y la respuesta de CoARA</a:t>
            </a:r>
          </a:p>
          <a:p>
            <a:r>
              <a:t>Pandelis Perakakis y Antonio Calderón-Rehecho</a:t>
            </a:r>
          </a:p>
          <a:p>
            <a:r>
              <a:t>Vicerrectorado de Investigación y Transferencia · Biblioteca UCM</a:t>
            </a:r>
          </a:p>
          <a:p>
            <a:r>
              <a:t>Jornada CoARA UCM · 29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Medir la calidad de la ciencia con citas</a:t>
            </a:r>
          </a:p>
        </p:txBody>
      </p:sp>
      <p:pic>
        <p:nvPicPr>
          <p:cNvPr id="3" name="Picture 2" descr="garfield_19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86000"/>
            <a:ext cx="4713170" cy="118872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1371600" y="4572000"/>
            <a:ext cx="9464040" cy="0"/>
          </a:xfrm>
          <a:prstGeom prst="line">
            <a:avLst/>
          </a:prstGeom>
          <a:ln w="50800">
            <a:solidFill>
              <a:srgbClr val="CFD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16152" y="441655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4315" y="365760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1955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315" y="4919472"/>
            <a:ext cx="227457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E1E1E"/>
                </a:solidFill>
                <a:latin typeface="Century Gothic"/>
              </a:rPr>
              <a:t>Garfield propone el índice de citas en Science</a:t>
            </a:r>
          </a:p>
        </p:txBody>
      </p:sp>
      <p:sp>
        <p:nvSpPr>
          <p:cNvPr id="8" name="Oval 7"/>
          <p:cNvSpPr/>
          <p:nvPr/>
        </p:nvSpPr>
        <p:spPr>
          <a:xfrm>
            <a:off x="3582162" y="441655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0325" y="365760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1961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325" y="4919472"/>
            <a:ext cx="227457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E1E1E"/>
                </a:solidFill>
                <a:latin typeface="Century Gothic"/>
              </a:rPr>
              <a:t>Science Citation Index</a:t>
            </a:r>
          </a:p>
        </p:txBody>
      </p:sp>
      <p:sp>
        <p:nvSpPr>
          <p:cNvPr id="11" name="Oval 10"/>
          <p:cNvSpPr/>
          <p:nvPr/>
        </p:nvSpPr>
        <p:spPr>
          <a:xfrm>
            <a:off x="5948172" y="441655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6335" y="365760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1972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6335" y="4919472"/>
            <a:ext cx="227457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E1E1E"/>
                </a:solidFill>
                <a:latin typeface="Century Gothic"/>
              </a:rPr>
              <a:t>Primera clasificación de revistas por factor de impacto</a:t>
            </a:r>
          </a:p>
        </p:txBody>
      </p:sp>
      <p:sp>
        <p:nvSpPr>
          <p:cNvPr id="14" name="Oval 13"/>
          <p:cNvSpPr/>
          <p:nvPr/>
        </p:nvSpPr>
        <p:spPr>
          <a:xfrm>
            <a:off x="8314181" y="441655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32344" y="365760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1992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2344" y="4919472"/>
            <a:ext cx="227457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E1E1E"/>
                </a:solidFill>
                <a:latin typeface="Century Gothic"/>
              </a:rPr>
              <a:t>Thomson compra el ISI por 210 M$</a:t>
            </a:r>
          </a:p>
        </p:txBody>
      </p:sp>
      <p:sp>
        <p:nvSpPr>
          <p:cNvPr id="17" name="Oval 16"/>
          <p:cNvSpPr/>
          <p:nvPr/>
        </p:nvSpPr>
        <p:spPr>
          <a:xfrm>
            <a:off x="10680192" y="441655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8355" y="365760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2016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8355" y="4919472"/>
            <a:ext cx="227457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1E1E1E"/>
                </a:solidFill>
                <a:latin typeface="Century Gothic"/>
              </a:rPr>
              <a:t>El negocio se vende por 3.550 M$; Nace Clarivate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Garfield (1955), Science 122:108-111; Garfield (1972), Science 178:471-479; Thomson Reuters (2016)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Advertencias desde dentro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194560"/>
            <a:ext cx="73152" cy="960120"/>
          </a:xfrm>
          <a:prstGeom prst="rect">
            <a:avLst/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2148840"/>
            <a:ext cx="1005840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1">
                <a:solidFill>
                  <a:srgbClr val="1E1E1E"/>
                </a:solidFill>
                <a:latin typeface="Century Gothic"/>
              </a:rPr>
              <a:t>«El uso del factor de impacto de las revistas para evaluar a individuos tiene sus peligros inherentes.»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entury Gothic"/>
              </a:rPr>
              <a:t>Eugene Garfield (2006), JAMA 295:90-93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794760"/>
            <a:ext cx="73152" cy="1600200"/>
          </a:xfrm>
          <a:prstGeom prst="rect">
            <a:avLst/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3749040"/>
            <a:ext cx="10058400" cy="2194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1">
                <a:solidFill>
                  <a:srgbClr val="1E1E1E"/>
                </a:solidFill>
                <a:latin typeface="Century Gothic"/>
              </a:rPr>
              <a:t>«Los factores de impacto de las revistas sólo se utilizan —y con cautela— para medir y comparar la influencia de revistas enteras, pero no para evaluar artículos individuales ni, desde luego, para evaluar investigadores o programas de investigación.»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entury Gothic"/>
              </a:rPr>
              <a:t>European Association of Science Editors (2007), declaración sobre el uso inadecuado del factor de impacto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factor de impacto no es tuyo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996" y="1600200"/>
            <a:ext cx="3964103" cy="4069080"/>
          </a:xfrm>
          <a:prstGeom prst="rect">
            <a:avLst/>
          </a:prstGeom>
          <a:ln>
            <a:solidFill>
              <a:srgbClr val="CFD2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41248" y="571500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  <a:latin typeface="Century Gothic"/>
              </a:rPr>
              <a:t>Artículos según las citas recibidas en un año, en tres revistas de bioquímica (Seglen 1997)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Seglen (1997), BMJ 314:497; Larivière et al. (2016), bioRxiv 062109: 65-75 % en 11 revistas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artículo vale más?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2103120"/>
            <a:ext cx="5074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2194560"/>
            <a:ext cx="9144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B01131"/>
                </a:solidFill>
                <a:latin typeface="Century Gothic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2331720"/>
            <a:ext cx="3749039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E1E1E"/>
                </a:solidFill>
                <a:latin typeface="Century Gothic"/>
              </a:rPr>
              <a:t>Revista con factor de impacto 40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E1E1E"/>
                </a:solidFill>
                <a:latin typeface="Century Gothic"/>
              </a:rPr>
              <a:t>El artículo: 0 citas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2103120"/>
            <a:ext cx="50749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6248" y="2194560"/>
            <a:ext cx="9144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B01131"/>
                </a:solidFill>
                <a:latin typeface="Century Gothic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9208" y="2331720"/>
            <a:ext cx="3749039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E1E1E"/>
                </a:solidFill>
                <a:latin typeface="Century Gothic"/>
              </a:rPr>
              <a:t>Revista con factor de impacto 3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E1E1E"/>
                </a:solidFill>
                <a:latin typeface="Century Gothic"/>
              </a:rPr>
              <a:t>El artículo: 120 citas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34340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B01131"/>
                </a:solidFill>
                <a:latin typeface="Century Gothic"/>
              </a:rPr>
              <a:t>La evaluación por factor de impacto elige el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5029200"/>
            <a:ext cx="90525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1">
                <a:solidFill>
                  <a:srgbClr val="595959"/>
                </a:solidFill>
                <a:latin typeface="Century Gothic"/>
              </a:rPr>
              <a:t>«En un mundo ideal, los evaluadores leerían cada artículo y harían su propio juicio.» Garfield (2006)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Tres funciones fundamentales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214884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9848" y="2286000"/>
            <a:ext cx="283464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E1E1E"/>
                </a:solidFill>
                <a:latin typeface="Century Gothic"/>
              </a:rPr>
              <a:t>Difusión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Suscripciones y pago por publicar en abierto</a:t>
            </a:r>
          </a:p>
        </p:txBody>
      </p:sp>
      <p:sp>
        <p:nvSpPr>
          <p:cNvPr id="5" name="Down Arrow 4"/>
          <p:cNvSpPr/>
          <p:nvPr/>
        </p:nvSpPr>
        <p:spPr>
          <a:xfrm>
            <a:off x="2258568" y="4069080"/>
            <a:ext cx="457200" cy="502920"/>
          </a:xfrm>
          <a:prstGeom prst="downArrow">
            <a:avLst/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53128" y="214884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95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1728" y="2286000"/>
            <a:ext cx="283464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E1E1E"/>
                </a:solidFill>
                <a:latin typeface="Century Gothic"/>
              </a:rPr>
              <a:t>Validación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Revisión por pares: decide qué se publica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70448" y="4069080"/>
            <a:ext cx="457200" cy="502920"/>
          </a:xfrm>
          <a:prstGeom prst="downArrow">
            <a:avLst/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65008" y="214884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2286000"/>
            <a:ext cx="283464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Century Gothic"/>
              </a:rPr>
              <a:t>Evaluación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entury Gothic"/>
              </a:rPr>
              <a:t>Factor de impacto y prestigio de la revista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482328" y="4069080"/>
            <a:ext cx="457200" cy="502920"/>
          </a:xfrm>
          <a:prstGeom prst="downArrow">
            <a:avLst/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46634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663440"/>
            <a:ext cx="1051560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entury Gothic"/>
              </a:rPr>
              <a:t>Las tres funciones dependen de las revistas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oligopolio de las editoriales</a:t>
            </a:r>
          </a:p>
        </p:txBody>
      </p:sp>
      <p:pic>
        <p:nvPicPr>
          <p:cNvPr id="3" name="Picture 2" descr="margenes_2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65960"/>
            <a:ext cx="6683242" cy="39776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2148840"/>
            <a:ext cx="2834640" cy="1691640"/>
          </a:xfrm>
          <a:prstGeom prst="roundRect">
            <a:avLst>
              <a:gd name="adj" fmla="val 8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0" y="2258568"/>
            <a:ext cx="2468880" cy="8458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1E1E"/>
                </a:solidFill>
                <a:latin typeface="Century Gothic"/>
              </a:rPr>
              <a:t>31,7 %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079242"/>
            <a:ext cx="2468880" cy="710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Elsevier, 2007-2008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069080"/>
            <a:ext cx="2834640" cy="1691640"/>
          </a:xfrm>
          <a:prstGeom prst="roundRect">
            <a:avLst>
              <a:gd name="adj" fmla="val 8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4178808"/>
            <a:ext cx="2468880" cy="8458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entury Gothic"/>
              </a:rPr>
              <a:t>38,1 %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999482"/>
            <a:ext cx="2468880" cy="710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entury Gothic"/>
              </a:rPr>
              <a:t>Elsevier,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MIT Libraries (datos de 2007-2008); RELX, resultados anuales de 2025: 1.035 M£ de beneficio sobre 2.714 M£ de ingresos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efecto sobre la calidad de la ciencia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5760720" cy="2194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56032" indent="-256032" algn="l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E1E1E"/>
                </a:solidFill>
                <a:latin typeface="Century Gothic"/>
              </a:rPr>
              <a:t>Publicar más: un 47 % más de artículos indexados en 2022 que en 2016</a:t>
            </a:r>
          </a:p>
          <a:p>
            <a:pPr marL="256032" indent="-256032" algn="l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E1E1E"/>
                </a:solidFill>
                <a:latin typeface="Century Gothic"/>
              </a:rPr>
              <a:t>Los resultados negativos no se publican</a:t>
            </a:r>
          </a:p>
          <a:p>
            <a:pPr marL="256032" indent="-256032" algn="l">
              <a:spcAft>
                <a:spcPts val="1200"/>
              </a:spcAft>
              <a:buFont typeface="Arial"/>
              <a:buChar char="•"/>
            </a:pPr>
            <a:r>
              <a:rPr sz="2000" b="0" i="0">
                <a:solidFill>
                  <a:srgbClr val="1E1E1E"/>
                </a:solidFill>
                <a:latin typeface="Century Gothic"/>
              </a:rPr>
              <a:t>La revista importa más que el contenido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4343400"/>
            <a:ext cx="73152" cy="1143000"/>
          </a:xfrm>
          <a:prstGeom prst="rect">
            <a:avLst/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4297680"/>
            <a:ext cx="548640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1">
                <a:solidFill>
                  <a:srgbClr val="1E1E1E"/>
                </a:solidFill>
                <a:latin typeface="Century Gothic"/>
              </a:rPr>
              <a:t>«La mayoría de los investigadores quieren ser científicos, pero se ven obligados a convertirse en académicos.»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entury Gothic"/>
              </a:rPr>
              <a:t>Perakakis (2017), Euroscientist</a:t>
            </a:r>
          </a:p>
        </p:txBody>
      </p:sp>
      <p:pic>
        <p:nvPicPr>
          <p:cNvPr id="6" name="Picture 5" descr="cientificos_academ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213" y="2011680"/>
            <a:ext cx="4375573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Hanson et al. (2024), Quantitative Science Studies 5:823-843; viñeta: Pedromics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Difusión: el acceso abierto</a:t>
            </a:r>
          </a:p>
        </p:txBody>
      </p:sp>
      <p:pic>
        <p:nvPicPr>
          <p:cNvPr id="3" name="Picture 2" descr="bo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64318"/>
            <a:ext cx="4571999" cy="11291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3520440"/>
            <a:ext cx="73152" cy="1143000"/>
          </a:xfrm>
          <a:prstGeom prst="rect">
            <a:avLst/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3474720"/>
            <a:ext cx="457200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1E1E1E"/>
                </a:solidFill>
                <a:latin typeface="Century Gothic"/>
              </a:rPr>
              <a:t>«Disponibilidad libre en internet para leer, descargar, copiar, distribuir, imprimir, buscar o enlazar los textos completos, sin barreras económicas, legales ni técnicas.»</a:t>
            </a:r>
          </a:p>
          <a:p>
            <a:pPr algn="l">
              <a:spcAft>
                <a:spcPts val="600"/>
              </a:spcAft>
            </a:pPr>
            <a:endParaRPr sz="1600" b="0" i="1">
              <a:solidFill>
                <a:srgbClr val="1E1E1E"/>
              </a:solidFill>
              <a:latin typeface="Century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72200" y="2103120"/>
            <a:ext cx="51663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B01131"/>
                </a:solidFill>
                <a:latin typeface="Century Gothic"/>
              </a:rPr>
              <a:t>La Iniciativa de Budapest (2002) propone dos estrategias complementarias: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017520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4754880" cy="1051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entury Gothic"/>
              </a:rPr>
              <a:t>1. Autoarchivo (vía verde): el autor deposita su trabajo en un repositorio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51960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4754880" cy="1051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E1E1E"/>
                </a:solidFill>
                <a:latin typeface="Century Gothic"/>
              </a:rPr>
              <a:t>2. Revistas de acceso abierto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budapestopenaccessinitiative.org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entury Gothic"/>
              </a:rPr>
              <a:t>Difusión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3456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63456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E1E1E"/>
                </a:solidFill>
                <a:latin typeface="Century Gothic"/>
              </a:rPr>
              <a:t>Validación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51592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51592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E1E1E"/>
                </a:solidFill>
                <a:latin typeface="Century Gothic"/>
              </a:rPr>
              <a:t>Evaluación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 autoarchivo al pago por publicar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834640"/>
            <a:ext cx="9464040" cy="0"/>
          </a:xfrm>
          <a:prstGeom prst="line">
            <a:avLst/>
          </a:prstGeom>
          <a:ln w="50800">
            <a:solidFill>
              <a:srgbClr val="CFD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16152" y="267919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920240"/>
            <a:ext cx="228600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2002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182112"/>
            <a:ext cx="228600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E1E1E"/>
                </a:solidFill>
                <a:latin typeface="Century Gothic"/>
              </a:rPr>
              <a:t>Budapest: vía verde y revistas abiertas</a:t>
            </a:r>
          </a:p>
        </p:txBody>
      </p:sp>
      <p:sp>
        <p:nvSpPr>
          <p:cNvPr id="7" name="Oval 6"/>
          <p:cNvSpPr/>
          <p:nvPr/>
        </p:nvSpPr>
        <p:spPr>
          <a:xfrm>
            <a:off x="4370831" y="267919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79" y="1920240"/>
            <a:ext cx="228600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2012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3182112"/>
            <a:ext cx="228600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E1E1E"/>
                </a:solidFill>
                <a:latin typeface="Century Gothic"/>
              </a:rPr>
              <a:t>Informe Finch: el pago por publicar como vía principal</a:t>
            </a:r>
          </a:p>
        </p:txBody>
      </p:sp>
      <p:sp>
        <p:nvSpPr>
          <p:cNvPr id="10" name="Oval 9"/>
          <p:cNvSpPr/>
          <p:nvPr/>
        </p:nvSpPr>
        <p:spPr>
          <a:xfrm>
            <a:off x="7525511" y="267919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920240"/>
            <a:ext cx="228600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182112"/>
            <a:ext cx="228600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E1E1E"/>
                </a:solidFill>
                <a:latin typeface="Century Gothic"/>
              </a:rPr>
              <a:t>Plan S: acceso abierto inmediato; admite el pago por publicar</a:t>
            </a:r>
          </a:p>
        </p:txBody>
      </p:sp>
      <p:sp>
        <p:nvSpPr>
          <p:cNvPr id="13" name="Oval 12"/>
          <p:cNvSpPr/>
          <p:nvPr/>
        </p:nvSpPr>
        <p:spPr>
          <a:xfrm>
            <a:off x="10680192" y="267919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920240"/>
            <a:ext cx="228600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Hoy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182112"/>
            <a:ext cx="228600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E1E1E"/>
                </a:solidFill>
                <a:latin typeface="Century Gothic"/>
              </a:rPr>
              <a:t>Acuerdos transformativos: se paga por leer y por publicar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89888" y="4572000"/>
            <a:ext cx="73152" cy="1143000"/>
          </a:xfrm>
          <a:prstGeom prst="rect">
            <a:avLst/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64208" y="4526280"/>
            <a:ext cx="914400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1">
                <a:solidFill>
                  <a:srgbClr val="1E1E1E"/>
                </a:solidFill>
                <a:latin typeface="Century Gothic"/>
              </a:rPr>
              <a:t>«La vía dorada abre un nuevo cliente, el propio autor [...]: una oportunidad de negocio. La vía verde es un problema de negocio.»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entury Gothic"/>
              </a:rPr>
              <a:t>Joseph Esposito, consultor editorial (Scholarly Kitchen, 2013)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en el repositorio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057400"/>
            <a:ext cx="5029200" cy="2103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56032" indent="-256032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E1E1E"/>
                </a:solidFill>
                <a:latin typeface="Century Gothic"/>
              </a:rPr>
              <a:t>Psicológica publica desde 2022 en DIGITAL.CSIC, el repositorio del CSIC</a:t>
            </a:r>
          </a:p>
          <a:p>
            <a:pPr marL="256032" indent="-256032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E1E1E"/>
                </a:solidFill>
                <a:latin typeface="Century Gothic"/>
              </a:rPr>
              <a:t>Artículos, preprints y revisiones, en abierto</a:t>
            </a:r>
          </a:p>
          <a:p>
            <a:pPr marL="256032" indent="-256032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E1E1E"/>
                </a:solidFill>
                <a:latin typeface="Century Gothic"/>
              </a:rPr>
              <a:t>Unos 30 € por publicación, sin pago de los autores</a:t>
            </a:r>
          </a:p>
        </p:txBody>
      </p:sp>
      <p:pic>
        <p:nvPicPr>
          <p:cNvPr id="4" name="Picture 3" descr="nature_2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97680"/>
            <a:ext cx="2544417" cy="1600200"/>
          </a:xfrm>
          <a:prstGeom prst="rect">
            <a:avLst/>
          </a:prstGeom>
          <a:ln>
            <a:solidFill>
              <a:srgbClr val="CFD2DB"/>
            </a:solidFill>
          </a:ln>
        </p:spPr>
      </p:pic>
      <p:pic>
        <p:nvPicPr>
          <p:cNvPr id="5" name="Picture 4" descr="psicologica_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942684"/>
            <a:ext cx="2560320" cy="2069910"/>
          </a:xfrm>
          <a:prstGeom prst="rect">
            <a:avLst/>
          </a:prstGeom>
          <a:ln>
            <a:solidFill>
              <a:srgbClr val="CFD2DB"/>
            </a:solidFill>
          </a:ln>
        </p:spPr>
      </p:pic>
      <p:pic>
        <p:nvPicPr>
          <p:cNvPr id="6" name="Picture 5" descr="psicologica_digitalc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546872"/>
            <a:ext cx="2560320" cy="2861534"/>
          </a:xfrm>
          <a:prstGeom prst="rect">
            <a:avLst/>
          </a:prstGeom>
          <a:ln>
            <a:solidFill>
              <a:srgbClr val="CFD2D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Bernal y Perakakis (2023), Nature 619:698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E1E1E"/>
                </a:solidFill>
                <a:latin typeface="Century Gothic"/>
              </a:rPr>
              <a:t>Difusión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3456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63456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entury Gothic"/>
              </a:rPr>
              <a:t>Validación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51592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51592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E1E1E"/>
                </a:solidFill>
                <a:latin typeface="Century Gothic"/>
              </a:rPr>
              <a:t>Evaluación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Evaluación: DORA y Leiden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2148840"/>
            <a:ext cx="5074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61288" y="2331720"/>
            <a:ext cx="44348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B01131"/>
                </a:solidFill>
                <a:latin typeface="Century Gothic"/>
              </a:rPr>
              <a:t>DORA (2012)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1288" y="2926080"/>
            <a:ext cx="4434840" cy="45720"/>
          </a:xfrm>
          <a:prstGeom prst="rect">
            <a:avLst/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3108960"/>
            <a:ext cx="4434840" cy="2468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E1E1E"/>
                </a:solidFill>
                <a:latin typeface="Century Gothic"/>
              </a:rPr>
              <a:t>«No usar métricas de revista, como el factor de impacto, para medir la calidad de artículos individuales, evaluar a investigadores ni decidir contrataciones, promociones o financiación.»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2148840"/>
            <a:ext cx="5074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331720"/>
            <a:ext cx="44348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B01131"/>
                </a:solidFill>
                <a:latin typeface="Century Gothic"/>
              </a:rPr>
              <a:t>Manifiesto de Leiden (2015)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1968" y="2926080"/>
            <a:ext cx="4434840" cy="45720"/>
          </a:xfrm>
          <a:prstGeom prst="rect">
            <a:avLst/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3108960"/>
            <a:ext cx="4434840" cy="2468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E1E1E"/>
                </a:solidFill>
                <a:latin typeface="Century Gothic"/>
              </a:rPr>
              <a:t>«La evaluación cuantitativa debe servir de apoyo a la valoración cualitativa de expertos.»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sfdora.org; Hicks et al. (2015), Nature 520:429-431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E1E1E"/>
                </a:solidFill>
                <a:latin typeface="Century Gothic"/>
              </a:rPr>
              <a:t>Difusión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3456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CF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63456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E1E1E"/>
                </a:solidFill>
                <a:latin typeface="Century Gothic"/>
              </a:rPr>
              <a:t>Validación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51592" y="347472"/>
            <a:ext cx="1024128" cy="329184"/>
          </a:xfrm>
          <a:prstGeom prst="roundRect">
            <a:avLst>
              <a:gd name="adj" fmla="val 30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51592" y="347472"/>
            <a:ext cx="102412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entury Gothic"/>
              </a:rPr>
              <a:t>Evaluación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CoARA: compromisos con plazos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3246120"/>
            <a:ext cx="9464040" cy="0"/>
          </a:xfrm>
          <a:prstGeom prst="line">
            <a:avLst/>
          </a:prstGeom>
          <a:ln w="50800">
            <a:solidFill>
              <a:srgbClr val="CFD2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16152" y="309067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4315" y="233172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Jul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315" y="3593591"/>
            <a:ext cx="227457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Se publica el Acuerdo</a:t>
            </a:r>
          </a:p>
        </p:txBody>
      </p:sp>
      <p:sp>
        <p:nvSpPr>
          <p:cNvPr id="7" name="Oval 6"/>
          <p:cNvSpPr/>
          <p:nvPr/>
        </p:nvSpPr>
        <p:spPr>
          <a:xfrm>
            <a:off x="3582162" y="309067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0325" y="233172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Sep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0325" y="3593591"/>
            <a:ext cx="227457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Se abre la firma</a:t>
            </a:r>
          </a:p>
        </p:txBody>
      </p:sp>
      <p:sp>
        <p:nvSpPr>
          <p:cNvPr id="10" name="Oval 9"/>
          <p:cNvSpPr/>
          <p:nvPr/>
        </p:nvSpPr>
        <p:spPr>
          <a:xfrm>
            <a:off x="5948172" y="309067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66335" y="233172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Dic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6335" y="3593591"/>
            <a:ext cx="227457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Asamblea constitutiva</a:t>
            </a:r>
          </a:p>
        </p:txBody>
      </p:sp>
      <p:sp>
        <p:nvSpPr>
          <p:cNvPr id="13" name="Oval 12"/>
          <p:cNvSpPr/>
          <p:nvPr/>
        </p:nvSpPr>
        <p:spPr>
          <a:xfrm>
            <a:off x="8314181" y="309067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32344" y="233172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Mar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2344" y="3593591"/>
            <a:ext cx="227457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Firma la UCM</a:t>
            </a:r>
          </a:p>
        </p:txBody>
      </p:sp>
      <p:sp>
        <p:nvSpPr>
          <p:cNvPr id="16" name="Oval 15"/>
          <p:cNvSpPr/>
          <p:nvPr/>
        </p:nvSpPr>
        <p:spPr>
          <a:xfrm>
            <a:off x="10680192" y="3090672"/>
            <a:ext cx="310896" cy="310896"/>
          </a:xfrm>
          <a:prstGeom prst="ellipse">
            <a:avLst/>
          </a:prstGeom>
          <a:solidFill>
            <a:srgbClr val="B0113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8355" y="2331720"/>
            <a:ext cx="2274570" cy="594360"/>
          </a:xfrm>
          <a:prstGeom prst="rect">
            <a:avLst/>
          </a:prstGeom>
          <a:noFill/>
        </p:spPr>
        <p:txBody>
          <a:bodyPr wrap="square" lIns="36576" tIns="36576" rIns="36576" bIns="36576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B01131"/>
                </a:solidFill>
                <a:latin typeface="Century Gothic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8355" y="3593591"/>
            <a:ext cx="227457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1E1E1E"/>
                </a:solidFill>
                <a:latin typeface="Century Gothic"/>
              </a:rPr>
              <a:t>Plan de Acción de la UCM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754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4754880"/>
            <a:ext cx="996696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E1E1E"/>
                </a:solidFill>
                <a:latin typeface="Century Gothic"/>
              </a:rPr>
              <a:t>Cada firmante concreta sus compromisos en un plan de acción propio.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cuatro compromisos centrales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205740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9848" y="2194560"/>
            <a:ext cx="7315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057400"/>
            <a:ext cx="3977639" cy="1691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entury Gothic"/>
              </a:rPr>
              <a:t>Reconocer la diversidad de contribuciones y de carreras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7" y="205740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4807" y="2194560"/>
            <a:ext cx="7315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07" y="2057400"/>
            <a:ext cx="3977639" cy="1691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entury Gothic"/>
              </a:rPr>
              <a:t>Evaluar principalmente con criterios cualitativos, con la revisión por pares en el centro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9776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4114800"/>
            <a:ext cx="7315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3977639"/>
            <a:ext cx="3977639" cy="1691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entury Gothic"/>
              </a:rPr>
              <a:t>Abandonar el uso inadecuado de métricas de revistas, en particular el factor de impacto y el índice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7" y="39776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B0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4114800"/>
            <a:ext cx="7315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3977639"/>
            <a:ext cx="3977639" cy="1691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entury Gothic"/>
              </a:rPr>
              <a:t>No usar rankings de instituciones para evaluar la investigación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0350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entury Gothic"/>
              </a:rPr>
              <a:t>Acuerdo sobre la Reforma de la Evaluación de la Investigación (2022)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Formar y concienciar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194560"/>
            <a:ext cx="10515600" cy="2377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56032" indent="-256032" algn="l">
              <a:spcAft>
                <a:spcPts val="1400"/>
              </a:spcAft>
              <a:buFont typeface="Arial"/>
              <a:buChar char="•"/>
            </a:pPr>
            <a:r>
              <a:rPr sz="2200" b="0" i="0">
                <a:solidFill>
                  <a:srgbClr val="1E1E1E"/>
                </a:solidFill>
                <a:latin typeface="Century Gothic"/>
              </a:rPr>
              <a:t>Los nuevos criterios solo funcionan si sabemos aplicarlos</a:t>
            </a:r>
          </a:p>
          <a:p>
            <a:pPr marL="256032" indent="-256032" algn="l">
              <a:spcAft>
                <a:spcPts val="1400"/>
              </a:spcAft>
              <a:buFont typeface="Arial"/>
              <a:buChar char="•"/>
            </a:pPr>
            <a:r>
              <a:rPr sz="2200" b="0" i="0">
                <a:solidFill>
                  <a:srgbClr val="1E1E1E"/>
                </a:solidFill>
                <a:latin typeface="Century Gothic"/>
              </a:rPr>
              <a:t>Importancia de actividades de difusión y formación</a:t>
            </a:r>
          </a:p>
          <a:p>
            <a:pPr marL="256032" indent="-256032" algn="l">
              <a:spcAft>
                <a:spcPts val="1400"/>
              </a:spcAft>
              <a:buFont typeface="Arial"/>
              <a:buChar char="•"/>
            </a:pPr>
            <a:r>
              <a:rPr sz="2200" b="0" i="0">
                <a:solidFill>
                  <a:srgbClr val="1E1E1E"/>
                </a:solidFill>
                <a:latin typeface="Century Gothic"/>
              </a:rPr>
              <a:t>Uso de infraestructura institucional, libre y abierta: Docta, Portal de Investigación, biblioguía, servicios de la biblioteca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7">
      <a:majorFont>
        <a:latin typeface="AvantGarde Md B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UCM POWERPOINT 2024 [NUEVO COLOR Y LOGO]-3" id="{20804EA9-EF9D-744B-A632-1AFC43D43A2D}" vid="{885ED3FB-CBD8-494F-8B2D-1D734A544E3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20240425 definitiva PLANTILLA UCM POWERPOINT 2024 [NUEVO COLOR Y LOGO] (1)</Template>
  <TotalTime>1</TotalTime>
  <Words>2650</Words>
  <Application>Microsoft Macintosh PowerPoint</Application>
  <PresentationFormat>Widescreen</PresentationFormat>
  <Paragraphs>140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Century Gothic</vt:lpstr>
      <vt:lpstr>Arial</vt:lpstr>
      <vt:lpstr>Calibri</vt:lpstr>
      <vt:lpstr>Wingdings</vt:lpstr>
      <vt:lpstr>Tema de Office</vt:lpstr>
      <vt:lpstr>Por qué es necesario reformar la evaluación de la investigación</vt:lpstr>
      <vt:lpstr>Medir la calidad de la ciencia con citas</vt:lpstr>
      <vt:lpstr>Advertencias desde dentro</vt:lpstr>
      <vt:lpstr>El factor de impacto no es tuyo</vt:lpstr>
      <vt:lpstr>¿Qué artículo vale más?</vt:lpstr>
      <vt:lpstr>Tres funciones fundamentales</vt:lpstr>
      <vt:lpstr>El oligopolio de las editoriales</vt:lpstr>
      <vt:lpstr>El efecto sobre la calidad de la ciencia</vt:lpstr>
      <vt:lpstr>Difusión: el acceso abierto</vt:lpstr>
      <vt:lpstr>Del autoarchivo al pago por publicar</vt:lpstr>
      <vt:lpstr>Validación en el repositorio</vt:lpstr>
      <vt:lpstr>Evaluación: DORA y Leiden</vt:lpstr>
      <vt:lpstr>CoARA: compromisos con plazos</vt:lpstr>
      <vt:lpstr>Los cuatro compromisos centrales</vt:lpstr>
      <vt:lpstr>Formar y concienciar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Lucía de Juan Ferré</dc:creator>
  <cp:keywords/>
  <dc:description/>
  <cp:lastModifiedBy>PANDELIS PERAKAKIS</cp:lastModifiedBy>
  <cp:revision>1</cp:revision>
  <dcterms:created xsi:type="dcterms:W3CDTF">2024-05-08T03:43:51Z</dcterms:created>
  <dcterms:modified xsi:type="dcterms:W3CDTF">2026-10-28T22:04:56Z</dcterms:modified>
  <cp:category/>
</cp:coreProperties>
</file>